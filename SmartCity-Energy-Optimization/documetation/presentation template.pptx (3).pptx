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libri (MS)" charset="1" panose="020F0502020204030204"/>
      <p:regular r:id="rId35"/>
    </p:embeddedFont>
    <p:embeddedFont>
      <p:font typeface="Quattrocento Bold" charset="1" panose="02020802030000000404"/>
      <p:regular r:id="rId36"/>
    </p:embeddedFont>
    <p:embeddedFont>
      <p:font typeface="Quattrocento" charset="1" panose="02020502030000000404"/>
      <p:regular r:id="rId37"/>
    </p:embeddedFont>
    <p:embeddedFont>
      <p:font typeface="Arimo Bold" charset="1" panose="020B0704020202020204"/>
      <p:regular r:id="rId39"/>
    </p:embeddedFont>
    <p:embeddedFont>
      <p:font typeface="Arimo" charset="1" panose="020B0604020202020204"/>
      <p:regular r:id="rId40"/>
    </p:embeddedFont>
    <p:embeddedFont>
      <p:font typeface="Cairo Bold" charset="1" panose="00000800000000000000"/>
      <p:regular r:id="rId41"/>
    </p:embeddedFont>
    <p:embeddedFont>
      <p:font typeface="Canva Sans" charset="1" panose="020B0503030501040103"/>
      <p:regular r:id="rId53"/>
    </p:embeddedFont>
    <p:embeddedFont>
      <p:font typeface="Arial Bold" charset="1" panose="020B0704020202020204"/>
      <p:regular r:id="rId57"/>
    </p:embeddedFont>
    <p:embeddedFont>
      <p:font typeface="Arial" charset="1" panose="020B0604020202020204"/>
      <p:regular r:id="rId58"/>
    </p:embeddedFont>
    <p:embeddedFont>
      <p:font typeface="Canva Sans Bold" charset="1" panose="020B0803030501040103"/>
      <p:regular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3.xml" Type="http://schemas.openxmlformats.org/officeDocument/2006/relationships/notesSlide"/><Relationship Id="rId43" Target="notesSlides/notesSlide4.xml" Type="http://schemas.openxmlformats.org/officeDocument/2006/relationships/notesSlide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notesSlides/notesSlide12.xml" Type="http://schemas.openxmlformats.org/officeDocument/2006/relationships/notesSlide"/><Relationship Id="rId52" Target="notesSlides/notesSlide13.xml" Type="http://schemas.openxmlformats.org/officeDocument/2006/relationships/notesSlide"/><Relationship Id="rId53" Target="fonts/font53.fntdata" Type="http://schemas.openxmlformats.org/officeDocument/2006/relationships/font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notesSlides/notesSlide17.xml" Type="http://schemas.openxmlformats.org/officeDocument/2006/relationships/notesSlide"/><Relationship Id="rId61" Target="notesSlides/notesSlide18.xml" Type="http://schemas.openxmlformats.org/officeDocument/2006/relationships/notesSlide"/><Relationship Id="rId62" Target="notesSlides/notesSlide19.xml" Type="http://schemas.openxmlformats.org/officeDocument/2006/relationships/notesSlide"/><Relationship Id="rId63" Target="notesSlides/notesSlide20.xml" Type="http://schemas.openxmlformats.org/officeDocument/2006/relationships/notesSlide"/><Relationship Id="rId64" Target="notesSlides/notesSlide21.xml" Type="http://schemas.openxmlformats.org/officeDocument/2006/relationships/notesSlide"/><Relationship Id="rId65" Target="notesSlides/notesSlide22.xml" Type="http://schemas.openxmlformats.org/officeDocument/2006/relationships/notesSlide"/><Relationship Id="rId66" Target="notesSlides/notesSlide23.xml" Type="http://schemas.openxmlformats.org/officeDocument/2006/relationships/notesSlide"/><Relationship Id="rId67" Target="notesSlides/notesSlide24.xml" Type="http://schemas.openxmlformats.org/officeDocument/2006/relationships/notesSlide"/><Relationship Id="rId68" Target="notesSlides/notesSlide25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4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18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3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41.png" Type="http://schemas.openxmlformats.org/officeDocument/2006/relationships/image"/><Relationship Id="rId8" Target="../media/image4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43.png" Type="http://schemas.openxmlformats.org/officeDocument/2006/relationships/image"/><Relationship Id="rId8" Target="../media/image4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45.png" Type="http://schemas.openxmlformats.org/officeDocument/2006/relationships/image"/><Relationship Id="rId8" Target="../media/image4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jpeg" Type="http://schemas.openxmlformats.org/officeDocument/2006/relationships/image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47.png" Type="http://schemas.openxmlformats.org/officeDocument/2006/relationships/image"/><Relationship Id="rId8" Target="../media/image48.jpeg" Type="http://schemas.openxmlformats.org/officeDocument/2006/relationships/image"/><Relationship Id="rId9" Target="../media/image4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jpeg" Type="http://schemas.openxmlformats.org/officeDocument/2006/relationships/image"/><Relationship Id="rId12" Target="../media/image57.jpeg" Type="http://schemas.openxmlformats.org/officeDocument/2006/relationships/image"/><Relationship Id="rId13" Target="../media/image58.jpe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29.png" Type="http://schemas.openxmlformats.org/officeDocument/2006/relationships/image"/><Relationship Id="rId8" Target="../media/image62.png" Type="http://schemas.openxmlformats.org/officeDocument/2006/relationships/image"/><Relationship Id="rId9" Target="../media/image6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6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65.png" Type="http://schemas.openxmlformats.org/officeDocument/2006/relationships/image"/><Relationship Id="rId7" Target="../media/image66.png" Type="http://schemas.openxmlformats.org/officeDocument/2006/relationships/image"/><Relationship Id="rId8" Target="../media/image67.png" Type="http://schemas.openxmlformats.org/officeDocument/2006/relationships/image"/><Relationship Id="rId9" Target="../media/image68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4.png" Type="http://schemas.openxmlformats.org/officeDocument/2006/relationships/image"/><Relationship Id="rId2" Target="../notesSlides/notesSlide2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71.png" Type="http://schemas.openxmlformats.org/officeDocument/2006/relationships/image"/><Relationship Id="rId7" Target="../media/image72.pn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png" Type="http://schemas.openxmlformats.org/officeDocument/2006/relationships/image"/><Relationship Id="rId12" Target="../media/image82.png" Type="http://schemas.openxmlformats.org/officeDocument/2006/relationships/image"/><Relationship Id="rId13" Target="../media/image83.png" Type="http://schemas.openxmlformats.org/officeDocument/2006/relationships/image"/><Relationship Id="rId14" Target="../media/image29.png" Type="http://schemas.openxmlformats.org/officeDocument/2006/relationships/image"/><Relationship Id="rId2" Target="../notesSlides/notesSlide2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84.png" Type="http://schemas.openxmlformats.org/officeDocument/2006/relationships/image"/><Relationship Id="rId7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42912" y="2429172"/>
            <a:ext cx="17402175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47954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Smart City Energy Optimization</a:t>
            </a:r>
          </a:p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47954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&amp; Prediction Platform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6143922"/>
            <a:ext cx="16573500" cy="1117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336EA8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Presenter:</a:t>
            </a:r>
            <a:r>
              <a:rPr lang="en-US" sz="3600">
                <a:solidFill>
                  <a:srgbClr val="336EA8"/>
                </a:solidFill>
                <a:latin typeface="Quattrocento"/>
                <a:ea typeface="Quattrocento"/>
                <a:cs typeface="Quattrocento"/>
                <a:sym typeface="Quattrocento"/>
              </a:rPr>
              <a:t> Team 4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3600">
                <a:solidFill>
                  <a:srgbClr val="666666"/>
                </a:solidFill>
                <a:latin typeface="Quattrocento"/>
                <a:ea typeface="Quattrocento"/>
                <a:cs typeface="Quattrocento"/>
                <a:sym typeface="Quattrocento"/>
              </a:rPr>
              <a:t>Nagat Osama | Merna Sameh | Ebrahim Ateff | Abdullah Mohamed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8258472"/>
            <a:ext cx="16573500" cy="68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b="true" sz="2475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Supervised by: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Eng. Ahmed Ali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22" id="22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714375" y="2945112"/>
            <a:ext cx="5333925" cy="5929312"/>
            <a:chOff x="0" y="0"/>
            <a:chExt cx="7111900" cy="79057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111873" cy="7905750"/>
            </a:xfrm>
            <a:custGeom>
              <a:avLst/>
              <a:gdLst/>
              <a:ahLst/>
              <a:cxnLst/>
              <a:rect r="r" b="b" t="t" l="l"/>
              <a:pathLst>
                <a:path h="790575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7905750"/>
                  </a:lnTo>
                  <a:lnTo>
                    <a:pt x="0" y="790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60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476925" y="2945112"/>
            <a:ext cx="5333925" cy="5929312"/>
            <a:chOff x="0" y="0"/>
            <a:chExt cx="7111900" cy="79057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7111873" cy="7905750"/>
            </a:xfrm>
            <a:custGeom>
              <a:avLst/>
              <a:gdLst/>
              <a:ahLst/>
              <a:cxnLst/>
              <a:rect r="r" b="b" t="t" l="l"/>
              <a:pathLst>
                <a:path h="790575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7905750"/>
                  </a:lnTo>
                  <a:lnTo>
                    <a:pt x="0" y="790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6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239475" y="2945112"/>
            <a:ext cx="5333925" cy="5929312"/>
            <a:chOff x="0" y="0"/>
            <a:chExt cx="7111900" cy="79057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7111873" cy="7905750"/>
            </a:xfrm>
            <a:custGeom>
              <a:avLst/>
              <a:gdLst/>
              <a:ahLst/>
              <a:cxnLst/>
              <a:rect r="r" b="b" t="t" l="l"/>
              <a:pathLst>
                <a:path h="790575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7905750"/>
                  </a:lnTo>
                  <a:lnTo>
                    <a:pt x="0" y="7905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6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57288" y="4454824"/>
            <a:ext cx="4670505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57288" y="5102524"/>
            <a:ext cx="4448100" cy="14288"/>
            <a:chOff x="0" y="0"/>
            <a:chExt cx="5930800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30773" cy="19050"/>
            </a:xfrm>
            <a:custGeom>
              <a:avLst/>
              <a:gdLst/>
              <a:ahLst/>
              <a:cxnLst/>
              <a:rect r="r" b="b" t="t" l="l"/>
              <a:pathLst>
                <a:path h="1905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157288" y="5231112"/>
            <a:ext cx="4448100" cy="322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Modern cities face unpredictable energy spikes due to rapid growth that costs cities millions annually. Weather conditions and traffic congestion significantly impact grid instability, leading to  inefficiencies.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19837" y="4454824"/>
            <a:ext cx="4670505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Solution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919837" y="5102524"/>
            <a:ext cx="4448100" cy="14288"/>
            <a:chOff x="0" y="0"/>
            <a:chExt cx="59308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30773" cy="19050"/>
            </a:xfrm>
            <a:custGeom>
              <a:avLst/>
              <a:gdLst/>
              <a:ahLst/>
              <a:cxnLst/>
              <a:rect r="r" b="b" t="t" l="l"/>
              <a:pathLst>
                <a:path h="1905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6919837" y="5231112"/>
            <a:ext cx="4448100" cy="322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An automated Azure platform integrating Energy, Weather, and Traffic data. Utilizing Medallion Architecture (Raw → Bronze → Silver → Gold) for robust processing.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82388" y="4454824"/>
            <a:ext cx="4670505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Unique Value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682388" y="5102524"/>
            <a:ext cx="4448100" cy="14288"/>
            <a:chOff x="0" y="0"/>
            <a:chExt cx="5930800" cy="19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30773" cy="19050"/>
            </a:xfrm>
            <a:custGeom>
              <a:avLst/>
              <a:gdLst/>
              <a:ahLst/>
              <a:cxnLst/>
              <a:rect r="r" b="b" t="t" l="l"/>
              <a:pathLst>
                <a:path h="1905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2682388" y="5231112"/>
            <a:ext cx="4448100" cy="268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Proactive Optimization: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Not just reporting, but identifying "Risk Zones" and providing actionable load-shifting recommendations before outages occur.</a:t>
            </a:r>
          </a:p>
        </p:txBody>
      </p: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157288" y="3430887"/>
            <a:ext cx="571500" cy="571500"/>
            <a:chOff x="0" y="0"/>
            <a:chExt cx="762000" cy="7620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500"/>
              </a:stretch>
            </a:blip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6919837" y="3430887"/>
            <a:ext cx="571500" cy="571500"/>
            <a:chOff x="0" y="0"/>
            <a:chExt cx="762000" cy="7620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500"/>
              </a:stretch>
            </a:blip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12682388" y="3430887"/>
            <a:ext cx="642938" cy="571500"/>
            <a:chOff x="0" y="0"/>
            <a:chExt cx="857250" cy="7620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857250" cy="762000"/>
            </a:xfrm>
            <a:custGeom>
              <a:avLst/>
              <a:gdLst/>
              <a:ahLst/>
              <a:cxnLst/>
              <a:rect r="r" b="b" t="t" l="l"/>
              <a:pathLst>
                <a:path h="7620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250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14375" y="1654628"/>
            <a:ext cx="17573625" cy="13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Project Vision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4287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857250" y="3268935"/>
            <a:ext cx="16609219" cy="1580380"/>
            <a:chOff x="0" y="0"/>
            <a:chExt cx="22098000" cy="2102642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2098000" cy="2102612"/>
            </a:xfrm>
            <a:custGeom>
              <a:avLst/>
              <a:gdLst/>
              <a:ahLst/>
              <a:cxnLst/>
              <a:rect r="r" b="b" t="t" l="l"/>
              <a:pathLst>
                <a:path h="2102612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102612"/>
                  </a:lnTo>
                  <a:lnTo>
                    <a:pt x="0" y="2102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83921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151163" y="3298979"/>
            <a:ext cx="500062" cy="400050"/>
            <a:chOff x="0" y="0"/>
            <a:chExt cx="666750" cy="533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571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23" id="23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3695994" y="5258474"/>
            <a:ext cx="9874654" cy="3999826"/>
          </a:xfrm>
          <a:custGeom>
            <a:avLst/>
            <a:gdLst/>
            <a:ahLst/>
            <a:cxnLst/>
            <a:rect r="r" b="b" t="t" l="l"/>
            <a:pathLst>
              <a:path h="3999826" w="9874654">
                <a:moveTo>
                  <a:pt x="0" y="0"/>
                </a:moveTo>
                <a:lnTo>
                  <a:pt x="9874654" y="0"/>
                </a:lnTo>
                <a:lnTo>
                  <a:pt x="9874654" y="3999826"/>
                </a:lnTo>
                <a:lnTo>
                  <a:pt x="0" y="39998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96" t="-31304" r="-1682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64443" y="3518054"/>
            <a:ext cx="15787688" cy="5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151163" y="3518054"/>
            <a:ext cx="15787688" cy="115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A cloud-native "End-to-End Data Platform" on Azure that integrates batch energy data with real-time weather/traffic APIs to accurately forecast consumption.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7250" y="1854472"/>
            <a:ext cx="17402175" cy="112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47954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Project Idea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91957" y="1823326"/>
            <a:ext cx="1740217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47954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Project Wireframe &amp; User Journey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01188" y="3987179"/>
            <a:ext cx="83260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36EA8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User Journey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914399" y="3390899"/>
            <a:ext cx="7818122" cy="5587366"/>
            <a:chOff x="0" y="0"/>
            <a:chExt cx="10424162" cy="74498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24160" cy="7449820"/>
            </a:xfrm>
            <a:custGeom>
              <a:avLst/>
              <a:gdLst/>
              <a:ahLst/>
              <a:cxnLst/>
              <a:rect r="r" b="b" t="t" l="l"/>
              <a:pathLst>
                <a:path h="744982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7449820"/>
                  </a:lnTo>
                  <a:lnTo>
                    <a:pt x="0" y="7449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8517" r="0" b="-8517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813726" y="4858716"/>
            <a:ext cx="7729538" cy="115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2475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Monitor: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Grid Operator logs in to view real-time grid status and total consumption vs. production.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3726" y="6221387"/>
            <a:ext cx="7700962" cy="118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2475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Detect: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System flags "High Risk Zones" (Red) where predicted demand &gt; capacity.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13726" y="7584057"/>
            <a:ext cx="7700962" cy="118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2475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Optimize: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User reviews the "Optimization Panel" for specific actions (e.g., "Shift Load in Region R3").</a:t>
            </a:r>
          </a:p>
        </p:txBody>
      </p: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9518518" y="5039691"/>
            <a:ext cx="139831" cy="279663"/>
            <a:chOff x="0" y="0"/>
            <a:chExt cx="209550" cy="4191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09550" cy="419100"/>
            </a:xfrm>
            <a:custGeom>
              <a:avLst/>
              <a:gdLst/>
              <a:ahLst/>
              <a:cxnLst/>
              <a:rect r="r" b="b" t="t" l="l"/>
              <a:pathLst>
                <a:path h="4191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545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9501188" y="6402362"/>
            <a:ext cx="200025" cy="314325"/>
            <a:chOff x="0" y="0"/>
            <a:chExt cx="266700" cy="4191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66700" cy="419100"/>
            </a:xfrm>
            <a:custGeom>
              <a:avLst/>
              <a:gdLst/>
              <a:ahLst/>
              <a:cxnLst/>
              <a:rect r="r" b="b" t="t" l="l"/>
              <a:pathLst>
                <a:path h="4191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545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9501188" y="7765032"/>
            <a:ext cx="200025" cy="314325"/>
            <a:chOff x="0" y="0"/>
            <a:chExt cx="266700" cy="4191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266700" cy="419100"/>
            </a:xfrm>
            <a:custGeom>
              <a:avLst/>
              <a:gdLst/>
              <a:ahLst/>
              <a:cxnLst/>
              <a:rect r="r" b="b" t="t" l="l"/>
              <a:pathLst>
                <a:path h="4191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4545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32" id="32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"/>
              </a:stretch>
            </a:blip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857250" y="3323406"/>
            <a:ext cx="7929562" cy="5715000"/>
            <a:chOff x="0" y="0"/>
            <a:chExt cx="10572750" cy="76200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1057275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5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714375" y="3913437"/>
            <a:ext cx="8072438" cy="4557712"/>
            <a:chOff x="0" y="0"/>
            <a:chExt cx="10763250" cy="60769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763250" cy="6076950"/>
            </a:xfrm>
            <a:custGeom>
              <a:avLst/>
              <a:gdLst/>
              <a:ahLst/>
              <a:cxnLst/>
              <a:rect r="r" b="b" t="t" l="l"/>
              <a:pathLst>
                <a:path h="60769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076950"/>
                  </a:lnTo>
                  <a:lnTo>
                    <a:pt x="0" y="6076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13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9501188" y="3913437"/>
            <a:ext cx="8072438" cy="5157788"/>
            <a:chOff x="0" y="0"/>
            <a:chExt cx="10763250" cy="68770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107632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877050"/>
                  </a:lnTo>
                  <a:lnTo>
                    <a:pt x="0" y="6877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77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714375" y="2721471"/>
            <a:ext cx="8072438" cy="6349753"/>
            <a:chOff x="0" y="0"/>
            <a:chExt cx="10763250" cy="8466338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10763250" cy="8466328"/>
            </a:xfrm>
            <a:custGeom>
              <a:avLst/>
              <a:gdLst/>
              <a:ahLst/>
              <a:cxnLst/>
              <a:rect r="r" b="b" t="t" l="l"/>
              <a:pathLst>
                <a:path h="8466328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8466328"/>
                  </a:lnTo>
                  <a:lnTo>
                    <a:pt x="0" y="8466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38883" b="0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501188" y="2721471"/>
            <a:ext cx="8072438" cy="6349753"/>
            <a:chOff x="0" y="0"/>
            <a:chExt cx="10763250" cy="8466338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10763250" cy="8466328"/>
            </a:xfrm>
            <a:custGeom>
              <a:avLst/>
              <a:gdLst/>
              <a:ahLst/>
              <a:cxnLst/>
              <a:rect r="r" b="b" t="t" l="l"/>
              <a:pathLst>
                <a:path h="8466328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8466328"/>
                  </a:lnTo>
                  <a:lnTo>
                    <a:pt x="0" y="8466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22769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57288" y="3022844"/>
            <a:ext cx="754594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0FAB7D"/>
                </a:solidFill>
                <a:latin typeface="Arimo Bold"/>
                <a:ea typeface="Arimo Bold"/>
                <a:cs typeface="Arimo Bold"/>
                <a:sym typeface="Arimo Bold"/>
              </a:rPr>
              <a:t>Target Audience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57288" y="3670544"/>
            <a:ext cx="7186612" cy="14288"/>
            <a:chOff x="0" y="0"/>
            <a:chExt cx="958215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82150" cy="19050"/>
            </a:xfrm>
            <a:custGeom>
              <a:avLst/>
              <a:gdLst/>
              <a:ahLst/>
              <a:cxnLst/>
              <a:rect r="r" b="b" t="t" l="l"/>
              <a:pathLst>
                <a:path h="19050" w="9582150">
                  <a:moveTo>
                    <a:pt x="0" y="0"/>
                  </a:moveTo>
                  <a:lnTo>
                    <a:pt x="9582150" y="0"/>
                  </a:lnTo>
                  <a:lnTo>
                    <a:pt x="9582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944100" y="3006518"/>
            <a:ext cx="754594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44100" y="3654218"/>
            <a:ext cx="7186612" cy="14288"/>
            <a:chOff x="0" y="0"/>
            <a:chExt cx="9582150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82150" cy="19050"/>
            </a:xfrm>
            <a:custGeom>
              <a:avLst/>
              <a:gdLst/>
              <a:ahLst/>
              <a:cxnLst/>
              <a:rect r="r" b="b" t="t" l="l"/>
              <a:pathLst>
                <a:path h="19050" w="9582150">
                  <a:moveTo>
                    <a:pt x="0" y="0"/>
                  </a:moveTo>
                  <a:lnTo>
                    <a:pt x="9582150" y="0"/>
                  </a:lnTo>
                  <a:lnTo>
                    <a:pt x="9582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157288" y="3799131"/>
            <a:ext cx="7186612" cy="1695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2400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City Planners:</a:t>
            </a:r>
            <a:r>
              <a:rPr lang="en-US" sz="240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Need long-term trends to plan infrastructure expansion and sustainability goals.</a:t>
            </a:r>
          </a:p>
          <a:p>
            <a:pPr algn="l">
              <a:lnSpc>
                <a:spcPts val="4608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57288" y="5636092"/>
            <a:ext cx="7186612" cy="135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2400" b="true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Grid Operators:</a:t>
            </a:r>
            <a:r>
              <a:rPr lang="en-US" sz="2400">
                <a:solidFill>
                  <a:srgbClr val="E2E8F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40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Need granular, hourly forecasts to manage immediate load stability and prevent outages.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29850" y="3951543"/>
            <a:ext cx="6919912" cy="139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2400" b="true">
                <a:solidFill>
                  <a:srgbClr val="E2E8F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Energy Forecasting:</a:t>
            </a:r>
            <a:r>
              <a:rPr lang="en-US" sz="240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 Predicts consumption with high precision using Azure ML (ARIMA/Prophet).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66640" y="5274830"/>
            <a:ext cx="6900862" cy="139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2400" b="true">
                <a:solidFill>
                  <a:srgbClr val="E2E8F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Risk Identification:</a:t>
            </a:r>
            <a:r>
              <a:rPr lang="en-US" sz="2400">
                <a:solidFill>
                  <a:srgbClr val="E2E8F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40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Automatically identifies regions exceeding historical peak capacity.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07181" y="6497704"/>
            <a:ext cx="6853238" cy="135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2400" b="true">
                <a:solidFill>
                  <a:srgbClr val="E2E8F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Optimization Engine:</a:t>
            </a:r>
            <a:r>
              <a:rPr lang="en-US" sz="2400">
                <a:solidFill>
                  <a:srgbClr val="E2E8F0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400">
                <a:solidFill>
                  <a:srgbClr val="FFFFFF"/>
                </a:solidFill>
                <a:latin typeface="Quattrocento"/>
                <a:ea typeface="Quattrocento"/>
                <a:cs typeface="Quattrocento"/>
                <a:sym typeface="Quattrocento"/>
              </a:rPr>
              <a:t>Suggests resource balancing strategies (peak shifting) to mitigate risks.</a:t>
            </a:r>
          </a:p>
        </p:txBody>
      </p: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9944100" y="4170612"/>
            <a:ext cx="257175" cy="285750"/>
            <a:chOff x="0" y="0"/>
            <a:chExt cx="342900" cy="3810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5000"/>
              </a:stretch>
            </a:blipFill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9944100" y="5446280"/>
            <a:ext cx="285750" cy="285750"/>
            <a:chOff x="0" y="0"/>
            <a:chExt cx="381000" cy="3810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5000"/>
              </a:stretch>
            </a:blip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9944100" y="6721950"/>
            <a:ext cx="357188" cy="285750"/>
            <a:chOff x="0" y="0"/>
            <a:chExt cx="476250" cy="3810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500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714375" y="1627436"/>
            <a:ext cx="17573625" cy="130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Users &amp; Core Features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1932495"/>
            <a:ext cx="8326039" cy="13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System Architecture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57250" y="3777290"/>
            <a:ext cx="7929450" cy="1485900"/>
            <a:chOff x="0" y="0"/>
            <a:chExt cx="10572600" cy="1981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714500" y="3891590"/>
            <a:ext cx="6786450" cy="10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Sources: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Integration of Batch CSVs and Real-time External APIs (Weather, Traffic).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7250" y="3777290"/>
            <a:ext cx="71550" cy="1485900"/>
            <a:chOff x="0" y="0"/>
            <a:chExt cx="95400" cy="198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857250" y="5548940"/>
            <a:ext cx="7929450" cy="1485900"/>
            <a:chOff x="0" y="0"/>
            <a:chExt cx="10572600" cy="198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714500" y="5663240"/>
            <a:ext cx="6786450" cy="10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Ingestion &amp; Processing: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Azure Data Factory for orchestration and Databricks for transformation.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7250" y="5548940"/>
            <a:ext cx="71550" cy="1485900"/>
            <a:chOff x="0" y="0"/>
            <a:chExt cx="95400" cy="1981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383314" y="3777290"/>
            <a:ext cx="7929450" cy="1485900"/>
            <a:chOff x="0" y="0"/>
            <a:chExt cx="10572600" cy="198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0240564" y="3891590"/>
            <a:ext cx="6786450" cy="10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Modeling: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Azure ML Designer for forecasting and risk classification.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83314" y="3777290"/>
            <a:ext cx="71550" cy="1485900"/>
            <a:chOff x="0" y="0"/>
            <a:chExt cx="95400" cy="1981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383314" y="5548940"/>
            <a:ext cx="7929450" cy="1485900"/>
            <a:chOff x="0" y="0"/>
            <a:chExt cx="10572600" cy="1981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0240564" y="5663240"/>
            <a:ext cx="6786450" cy="10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Visualization: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Synapse SQL Views powering interactive Power BI dashboards.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383314" y="5548940"/>
            <a:ext cx="71550" cy="1485900"/>
            <a:chOff x="0" y="0"/>
            <a:chExt cx="95400" cy="1981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1214438" y="4348790"/>
            <a:ext cx="300038" cy="342900"/>
            <a:chOff x="0" y="0"/>
            <a:chExt cx="400050" cy="45720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1214438" y="6120440"/>
            <a:ext cx="428625" cy="342900"/>
            <a:chOff x="0" y="0"/>
            <a:chExt cx="571500" cy="4572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166"/>
              </a:stretch>
            </a:blip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9740502" y="4348790"/>
            <a:ext cx="342900" cy="342900"/>
            <a:chOff x="0" y="0"/>
            <a:chExt cx="457200" cy="4572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4166"/>
              </a:stretch>
            </a:blipFill>
          </p:spPr>
        </p:sp>
      </p:grpSp>
      <p:grpSp>
        <p:nvGrpSpPr>
          <p:cNvPr name="Group 47" id="47"/>
          <p:cNvGrpSpPr>
            <a:grpSpLocks noChangeAspect="true"/>
          </p:cNvGrpSpPr>
          <p:nvPr/>
        </p:nvGrpSpPr>
        <p:grpSpPr>
          <a:xfrm rot="0">
            <a:off x="9740502" y="6120440"/>
            <a:ext cx="342900" cy="342900"/>
            <a:chOff x="0" y="0"/>
            <a:chExt cx="457200" cy="4572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416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810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714375" y="4142840"/>
            <a:ext cx="16859250" cy="57150"/>
            <a:chOff x="0" y="0"/>
            <a:chExt cx="22479000" cy="762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2479000" cy="76200"/>
            </a:xfrm>
            <a:custGeom>
              <a:avLst/>
              <a:gdLst/>
              <a:ahLst/>
              <a:cxnLst/>
              <a:rect r="r" b="b" t="t" l="l"/>
              <a:pathLst>
                <a:path h="762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5000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714375" y="4571464"/>
            <a:ext cx="3877493" cy="3900488"/>
            <a:chOff x="0" y="0"/>
            <a:chExt cx="5169990" cy="52006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170043" cy="5200650"/>
            </a:xfrm>
            <a:custGeom>
              <a:avLst/>
              <a:gdLst/>
              <a:ahLst/>
              <a:cxnLst/>
              <a:rect r="r" b="b" t="t" l="l"/>
              <a:pathLst>
                <a:path h="5200650" w="5170043">
                  <a:moveTo>
                    <a:pt x="0" y="0"/>
                  </a:moveTo>
                  <a:lnTo>
                    <a:pt x="5170043" y="0"/>
                  </a:lnTo>
                  <a:lnTo>
                    <a:pt x="5170043" y="5200650"/>
                  </a:lnTo>
                  <a:lnTo>
                    <a:pt x="0" y="520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-141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5041478" y="4571464"/>
            <a:ext cx="3877493" cy="3900488"/>
            <a:chOff x="0" y="0"/>
            <a:chExt cx="5169990" cy="52006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170043" cy="5200650"/>
            </a:xfrm>
            <a:custGeom>
              <a:avLst/>
              <a:gdLst/>
              <a:ahLst/>
              <a:cxnLst/>
              <a:rect r="r" b="b" t="t" l="l"/>
              <a:pathLst>
                <a:path h="5200650" w="5170043">
                  <a:moveTo>
                    <a:pt x="0" y="0"/>
                  </a:moveTo>
                  <a:lnTo>
                    <a:pt x="5170043" y="0"/>
                  </a:lnTo>
                  <a:lnTo>
                    <a:pt x="5170043" y="5200650"/>
                  </a:lnTo>
                  <a:lnTo>
                    <a:pt x="0" y="520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24" b="0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368582" y="4571464"/>
            <a:ext cx="3877492" cy="3900488"/>
            <a:chOff x="0" y="0"/>
            <a:chExt cx="5169990" cy="52006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170043" cy="5200650"/>
            </a:xfrm>
            <a:custGeom>
              <a:avLst/>
              <a:gdLst/>
              <a:ahLst/>
              <a:cxnLst/>
              <a:rect r="r" b="b" t="t" l="l"/>
              <a:pathLst>
                <a:path h="5200650" w="5170043">
                  <a:moveTo>
                    <a:pt x="0" y="0"/>
                  </a:moveTo>
                  <a:lnTo>
                    <a:pt x="5170043" y="0"/>
                  </a:lnTo>
                  <a:lnTo>
                    <a:pt x="5170043" y="5200650"/>
                  </a:lnTo>
                  <a:lnTo>
                    <a:pt x="0" y="520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24" b="0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3695684" y="4571464"/>
            <a:ext cx="3877492" cy="3900488"/>
            <a:chOff x="0" y="0"/>
            <a:chExt cx="5169990" cy="520065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5170043" cy="5200650"/>
            </a:xfrm>
            <a:custGeom>
              <a:avLst/>
              <a:gdLst/>
              <a:ahLst/>
              <a:cxnLst/>
              <a:rect r="r" b="b" t="t" l="l"/>
              <a:pathLst>
                <a:path h="5200650" w="5170043">
                  <a:moveTo>
                    <a:pt x="0" y="0"/>
                  </a:moveTo>
                  <a:lnTo>
                    <a:pt x="5170043" y="0"/>
                  </a:lnTo>
                  <a:lnTo>
                    <a:pt x="5170043" y="5200650"/>
                  </a:lnTo>
                  <a:lnTo>
                    <a:pt x="0" y="520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1" b="-141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17475" y="5281077"/>
            <a:ext cx="3471300" cy="5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EF4444"/>
                </a:solidFill>
                <a:latin typeface="Arimo Bold"/>
                <a:ea typeface="Arimo Bold"/>
                <a:cs typeface="Arimo Bold"/>
                <a:sym typeface="Arimo Bold"/>
              </a:rPr>
              <a:t>Raw Layer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0050" y="6050222"/>
            <a:ext cx="3306150" cy="213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Stores original data exactly as received (CSVs) for audit and backup.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44578" y="5281077"/>
            <a:ext cx="3471300" cy="5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D97706"/>
                </a:solidFill>
                <a:latin typeface="Arimo Bold"/>
                <a:ea typeface="Arimo Bold"/>
                <a:cs typeface="Arimo Bold"/>
                <a:sym typeface="Arimo Bold"/>
              </a:rPr>
              <a:t>Bronze Layer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27152" y="6088322"/>
            <a:ext cx="3306150" cy="218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Standardized data with added metadata columns (Load Date, Source System).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71682" y="5281077"/>
            <a:ext cx="3471300" cy="5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0FAB7D"/>
                </a:solidFill>
                <a:latin typeface="Arimo Bold"/>
                <a:ea typeface="Arimo Bold"/>
                <a:cs typeface="Arimo Bold"/>
                <a:sym typeface="Arimo Bold"/>
              </a:rPr>
              <a:t>Silver Layer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54257" y="6088322"/>
            <a:ext cx="3306150" cy="218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Cleaned, de-duplicated data with feature engineering (Weather Index, Flags).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98784" y="5281077"/>
            <a:ext cx="3471300" cy="5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315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Gold Layer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81359" y="6088322"/>
            <a:ext cx="3306150" cy="218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Aggregated, business-ready data (Forecasts, Risk Scores) for BI &amp; Analytics.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4375" y="1759464"/>
            <a:ext cx="175736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Medallion Data Architecture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453096" y="5821622"/>
            <a:ext cx="400050" cy="400050"/>
            <a:chOff x="0" y="0"/>
            <a:chExt cx="533400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38100" y="3810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277622" y="0"/>
                    <a:pt x="287909" y="4699"/>
                    <a:pt x="295148" y="12827"/>
                  </a:cubicBezTo>
                  <a:lnTo>
                    <a:pt x="266700" y="38100"/>
                  </a:lnTo>
                  <a:lnTo>
                    <a:pt x="266700" y="0"/>
                  </a:lnTo>
                  <a:lnTo>
                    <a:pt x="266700" y="38100"/>
                  </a:lnTo>
                  <a:lnTo>
                    <a:pt x="266700" y="0"/>
                  </a:ln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281178"/>
                    <a:pt x="525272" y="294386"/>
                    <a:pt x="512318" y="300736"/>
                  </a:cubicBezTo>
                  <a:lnTo>
                    <a:pt x="495300" y="266700"/>
                  </a:lnTo>
                  <a:lnTo>
                    <a:pt x="533400" y="266700"/>
                  </a:lnTo>
                  <a:cubicBezTo>
                    <a:pt x="533400" y="414020"/>
                    <a:pt x="414020" y="533400"/>
                    <a:pt x="266700" y="533400"/>
                  </a:cubicBezTo>
                  <a:lnTo>
                    <a:pt x="266700" y="495300"/>
                  </a:ln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lnTo>
                    <a:pt x="38100" y="266700"/>
                  </a:lnTo>
                  <a:lnTo>
                    <a:pt x="0" y="266700"/>
                  </a:lnTo>
                  <a:moveTo>
                    <a:pt x="76200" y="266700"/>
                  </a:moveTo>
                  <a:lnTo>
                    <a:pt x="38100" y="266700"/>
                  </a:lnTo>
                  <a:lnTo>
                    <a:pt x="76200" y="266700"/>
                  </a:lnTo>
                  <a:cubicBezTo>
                    <a:pt x="76200" y="371856"/>
                    <a:pt x="161544" y="457200"/>
                    <a:pt x="266700" y="457200"/>
                  </a:cubicBezTo>
                  <a:cubicBezTo>
                    <a:pt x="371856" y="457200"/>
                    <a:pt x="457200" y="371856"/>
                    <a:pt x="457200" y="266700"/>
                  </a:cubicBezTo>
                  <a:cubicBezTo>
                    <a:pt x="457200" y="252222"/>
                    <a:pt x="465328" y="239014"/>
                    <a:pt x="478282" y="232664"/>
                  </a:cubicBezTo>
                  <a:lnTo>
                    <a:pt x="495300" y="266700"/>
                  </a:lnTo>
                  <a:lnTo>
                    <a:pt x="457200" y="266700"/>
                  </a:lnTo>
                  <a:cubicBezTo>
                    <a:pt x="457200" y="161544"/>
                    <a:pt x="371856" y="76200"/>
                    <a:pt x="266700" y="76200"/>
                  </a:cubicBezTo>
                  <a:cubicBezTo>
                    <a:pt x="255778" y="76200"/>
                    <a:pt x="245491" y="71501"/>
                    <a:pt x="238252" y="63373"/>
                  </a:cubicBezTo>
                  <a:lnTo>
                    <a:pt x="266700" y="38100"/>
                  </a:lnTo>
                  <a:lnTo>
                    <a:pt x="266700" y="76200"/>
                  </a:lnTo>
                  <a:cubicBezTo>
                    <a:pt x="161544" y="76200"/>
                    <a:pt x="76200" y="161544"/>
                    <a:pt x="76200" y="266700"/>
                  </a:cubicBezTo>
                  <a:close/>
                </a:path>
              </a:pathLst>
            </a:custGeom>
            <a:solidFill>
              <a:srgbClr val="D7B1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780200" y="5821622"/>
            <a:ext cx="400050" cy="400050"/>
            <a:chOff x="0" y="0"/>
            <a:chExt cx="5334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38100" y="3810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277622" y="0"/>
                    <a:pt x="287909" y="4699"/>
                    <a:pt x="295148" y="12827"/>
                  </a:cubicBezTo>
                  <a:lnTo>
                    <a:pt x="266700" y="38100"/>
                  </a:lnTo>
                  <a:lnTo>
                    <a:pt x="266700" y="0"/>
                  </a:lnTo>
                  <a:lnTo>
                    <a:pt x="266700" y="38100"/>
                  </a:lnTo>
                  <a:lnTo>
                    <a:pt x="266700" y="0"/>
                  </a:ln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281178"/>
                    <a:pt x="525272" y="294386"/>
                    <a:pt x="512318" y="300736"/>
                  </a:cubicBezTo>
                  <a:lnTo>
                    <a:pt x="495300" y="266700"/>
                  </a:lnTo>
                  <a:lnTo>
                    <a:pt x="533400" y="266700"/>
                  </a:lnTo>
                  <a:cubicBezTo>
                    <a:pt x="533400" y="414020"/>
                    <a:pt x="414020" y="533400"/>
                    <a:pt x="266700" y="533400"/>
                  </a:cubicBezTo>
                  <a:lnTo>
                    <a:pt x="266700" y="495300"/>
                  </a:ln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lnTo>
                    <a:pt x="38100" y="266700"/>
                  </a:lnTo>
                  <a:lnTo>
                    <a:pt x="0" y="266700"/>
                  </a:lnTo>
                  <a:moveTo>
                    <a:pt x="76200" y="266700"/>
                  </a:moveTo>
                  <a:lnTo>
                    <a:pt x="38100" y="266700"/>
                  </a:lnTo>
                  <a:lnTo>
                    <a:pt x="76200" y="266700"/>
                  </a:lnTo>
                  <a:cubicBezTo>
                    <a:pt x="76200" y="371856"/>
                    <a:pt x="161544" y="457200"/>
                    <a:pt x="266700" y="457200"/>
                  </a:cubicBezTo>
                  <a:cubicBezTo>
                    <a:pt x="371856" y="457200"/>
                    <a:pt x="457200" y="371856"/>
                    <a:pt x="457200" y="266700"/>
                  </a:cubicBezTo>
                  <a:cubicBezTo>
                    <a:pt x="457200" y="252222"/>
                    <a:pt x="465328" y="239014"/>
                    <a:pt x="478282" y="232664"/>
                  </a:cubicBezTo>
                  <a:lnTo>
                    <a:pt x="495300" y="266700"/>
                  </a:lnTo>
                  <a:lnTo>
                    <a:pt x="457200" y="266700"/>
                  </a:lnTo>
                  <a:cubicBezTo>
                    <a:pt x="457200" y="161544"/>
                    <a:pt x="371856" y="76200"/>
                    <a:pt x="266700" y="76200"/>
                  </a:cubicBezTo>
                  <a:cubicBezTo>
                    <a:pt x="255778" y="76200"/>
                    <a:pt x="245491" y="71501"/>
                    <a:pt x="238252" y="63373"/>
                  </a:cubicBezTo>
                  <a:lnTo>
                    <a:pt x="266700" y="38100"/>
                  </a:lnTo>
                  <a:lnTo>
                    <a:pt x="266700" y="76200"/>
                  </a:lnTo>
                  <a:cubicBezTo>
                    <a:pt x="161544" y="76200"/>
                    <a:pt x="76200" y="161544"/>
                    <a:pt x="76200" y="266700"/>
                  </a:cubicBezTo>
                  <a:close/>
                </a:path>
              </a:pathLst>
            </a:custGeom>
            <a:solidFill>
              <a:srgbClr val="D7B1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107302" y="5821622"/>
            <a:ext cx="400050" cy="400050"/>
            <a:chOff x="0" y="0"/>
            <a:chExt cx="533400" cy="533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38100" y="3810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277622" y="0"/>
                    <a:pt x="287909" y="4699"/>
                    <a:pt x="295148" y="12827"/>
                  </a:cubicBezTo>
                  <a:lnTo>
                    <a:pt x="266700" y="38100"/>
                  </a:lnTo>
                  <a:lnTo>
                    <a:pt x="266700" y="0"/>
                  </a:lnTo>
                  <a:lnTo>
                    <a:pt x="266700" y="38100"/>
                  </a:lnTo>
                  <a:lnTo>
                    <a:pt x="266700" y="0"/>
                  </a:ln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281178"/>
                    <a:pt x="525272" y="294386"/>
                    <a:pt x="512318" y="300736"/>
                  </a:cubicBezTo>
                  <a:lnTo>
                    <a:pt x="495300" y="266700"/>
                  </a:lnTo>
                  <a:lnTo>
                    <a:pt x="533400" y="266700"/>
                  </a:lnTo>
                  <a:cubicBezTo>
                    <a:pt x="533400" y="414020"/>
                    <a:pt x="414020" y="533400"/>
                    <a:pt x="266700" y="533400"/>
                  </a:cubicBezTo>
                  <a:lnTo>
                    <a:pt x="266700" y="495300"/>
                  </a:ln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lnTo>
                    <a:pt x="38100" y="266700"/>
                  </a:lnTo>
                  <a:lnTo>
                    <a:pt x="0" y="266700"/>
                  </a:lnTo>
                  <a:moveTo>
                    <a:pt x="76200" y="266700"/>
                  </a:moveTo>
                  <a:lnTo>
                    <a:pt x="38100" y="266700"/>
                  </a:lnTo>
                  <a:lnTo>
                    <a:pt x="76200" y="266700"/>
                  </a:lnTo>
                  <a:cubicBezTo>
                    <a:pt x="76200" y="371856"/>
                    <a:pt x="161544" y="457200"/>
                    <a:pt x="266700" y="457200"/>
                  </a:cubicBezTo>
                  <a:cubicBezTo>
                    <a:pt x="371856" y="457200"/>
                    <a:pt x="457200" y="371856"/>
                    <a:pt x="457200" y="266700"/>
                  </a:cubicBezTo>
                  <a:cubicBezTo>
                    <a:pt x="457200" y="252222"/>
                    <a:pt x="465328" y="239014"/>
                    <a:pt x="478282" y="232664"/>
                  </a:cubicBezTo>
                  <a:lnTo>
                    <a:pt x="495300" y="266700"/>
                  </a:lnTo>
                  <a:lnTo>
                    <a:pt x="457200" y="266700"/>
                  </a:lnTo>
                  <a:cubicBezTo>
                    <a:pt x="457200" y="161544"/>
                    <a:pt x="371856" y="76200"/>
                    <a:pt x="266700" y="76200"/>
                  </a:cubicBezTo>
                  <a:cubicBezTo>
                    <a:pt x="255778" y="76200"/>
                    <a:pt x="245491" y="71501"/>
                    <a:pt x="238252" y="63373"/>
                  </a:cubicBezTo>
                  <a:lnTo>
                    <a:pt x="266700" y="38100"/>
                  </a:lnTo>
                  <a:lnTo>
                    <a:pt x="266700" y="76200"/>
                  </a:lnTo>
                  <a:cubicBezTo>
                    <a:pt x="161544" y="76200"/>
                    <a:pt x="76200" y="161544"/>
                    <a:pt x="76200" y="266700"/>
                  </a:cubicBezTo>
                  <a:close/>
                </a:path>
              </a:pathLst>
            </a:custGeom>
            <a:solidFill>
              <a:srgbClr val="D7B1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5434406" y="5821622"/>
            <a:ext cx="400050" cy="400050"/>
            <a:chOff x="0" y="0"/>
            <a:chExt cx="533400" cy="533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38100" y="3810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277622" y="0"/>
                    <a:pt x="287909" y="4699"/>
                    <a:pt x="295148" y="12827"/>
                  </a:cubicBezTo>
                  <a:lnTo>
                    <a:pt x="266700" y="38100"/>
                  </a:lnTo>
                  <a:lnTo>
                    <a:pt x="266700" y="0"/>
                  </a:lnTo>
                  <a:lnTo>
                    <a:pt x="266700" y="38100"/>
                  </a:lnTo>
                  <a:lnTo>
                    <a:pt x="266700" y="0"/>
                  </a:ln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281178"/>
                    <a:pt x="525272" y="294386"/>
                    <a:pt x="512318" y="300736"/>
                  </a:cubicBezTo>
                  <a:lnTo>
                    <a:pt x="495300" y="266700"/>
                  </a:lnTo>
                  <a:lnTo>
                    <a:pt x="533400" y="266700"/>
                  </a:lnTo>
                  <a:cubicBezTo>
                    <a:pt x="533400" y="414020"/>
                    <a:pt x="414020" y="533400"/>
                    <a:pt x="266700" y="533400"/>
                  </a:cubicBezTo>
                  <a:lnTo>
                    <a:pt x="266700" y="495300"/>
                  </a:lnTo>
                  <a:lnTo>
                    <a:pt x="266700" y="533400"/>
                  </a:lnTo>
                  <a:cubicBezTo>
                    <a:pt x="119380" y="533400"/>
                    <a:pt x="0" y="414020"/>
                    <a:pt x="0" y="266700"/>
                  </a:cubicBezTo>
                  <a:lnTo>
                    <a:pt x="38100" y="266700"/>
                  </a:lnTo>
                  <a:lnTo>
                    <a:pt x="0" y="266700"/>
                  </a:lnTo>
                  <a:moveTo>
                    <a:pt x="76200" y="266700"/>
                  </a:moveTo>
                  <a:lnTo>
                    <a:pt x="38100" y="266700"/>
                  </a:lnTo>
                  <a:lnTo>
                    <a:pt x="76200" y="266700"/>
                  </a:lnTo>
                  <a:cubicBezTo>
                    <a:pt x="76200" y="371856"/>
                    <a:pt x="161544" y="457200"/>
                    <a:pt x="266700" y="457200"/>
                  </a:cubicBezTo>
                  <a:cubicBezTo>
                    <a:pt x="371856" y="457200"/>
                    <a:pt x="457200" y="371856"/>
                    <a:pt x="457200" y="266700"/>
                  </a:cubicBezTo>
                  <a:cubicBezTo>
                    <a:pt x="457200" y="252222"/>
                    <a:pt x="465328" y="239014"/>
                    <a:pt x="478282" y="232664"/>
                  </a:cubicBezTo>
                  <a:lnTo>
                    <a:pt x="495300" y="266700"/>
                  </a:lnTo>
                  <a:lnTo>
                    <a:pt x="457200" y="266700"/>
                  </a:lnTo>
                  <a:cubicBezTo>
                    <a:pt x="457200" y="161544"/>
                    <a:pt x="371856" y="76200"/>
                    <a:pt x="266700" y="76200"/>
                  </a:cubicBezTo>
                  <a:cubicBezTo>
                    <a:pt x="255778" y="76200"/>
                    <a:pt x="245491" y="71501"/>
                    <a:pt x="238252" y="63373"/>
                  </a:cubicBezTo>
                  <a:lnTo>
                    <a:pt x="266700" y="38100"/>
                  </a:lnTo>
                  <a:lnTo>
                    <a:pt x="266700" y="76200"/>
                  </a:lnTo>
                  <a:cubicBezTo>
                    <a:pt x="161544" y="76200"/>
                    <a:pt x="76200" y="161544"/>
                    <a:pt x="76200" y="266700"/>
                  </a:cubicBezTo>
                  <a:close/>
                </a:path>
              </a:pathLst>
            </a:custGeom>
            <a:solidFill>
              <a:srgbClr val="D7B119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57250" y="1625872"/>
            <a:ext cx="17402175" cy="1128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47954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Data Structure: Medallion Architecture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2579325"/>
            <a:ext cx="832603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336EA8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Key Entities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2876190"/>
            <a:ext cx="8191500" cy="20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4500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Energy:</a:t>
            </a:r>
            <a:r>
              <a:rPr lang="en-US" sz="4500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Timestamp, Meter_ID, Consumption (kWh).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2500" y="5095476"/>
            <a:ext cx="7548910" cy="20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4500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Weather:</a:t>
            </a:r>
            <a:r>
              <a:rPr lang="en-US" sz="4500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Temp, Humidity, Wind Speed.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4714" y="7312896"/>
            <a:ext cx="7207014" cy="20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4500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Traffic:</a:t>
            </a:r>
            <a:r>
              <a:rPr lang="en-US" sz="4500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Congestion Index, Speed.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24" id="24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Freeform 25" id="25" descr="A diagram of a smart city energy optimization platform  AI-generated content may be incorrect."/>
          <p:cNvSpPr/>
          <p:nvPr/>
        </p:nvSpPr>
        <p:spPr>
          <a:xfrm flipH="false" flipV="false" rot="0">
            <a:off x="10122656" y="2349936"/>
            <a:ext cx="6908044" cy="6989120"/>
          </a:xfrm>
          <a:custGeom>
            <a:avLst/>
            <a:gdLst/>
            <a:ahLst/>
            <a:cxnLst/>
            <a:rect r="r" b="b" t="t" l="l"/>
            <a:pathLst>
              <a:path h="6989120" w="6908044">
                <a:moveTo>
                  <a:pt x="0" y="0"/>
                </a:moveTo>
                <a:lnTo>
                  <a:pt x="6908044" y="0"/>
                </a:lnTo>
                <a:lnTo>
                  <a:pt x="6908044" y="6989120"/>
                </a:lnTo>
                <a:lnTo>
                  <a:pt x="0" y="6989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53" t="-870" r="-1666" b="-64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714375" y="3176831"/>
            <a:ext cx="5333925" cy="6043612"/>
            <a:chOff x="0" y="0"/>
            <a:chExt cx="7111900" cy="80581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111873" cy="8058150"/>
            </a:xfrm>
            <a:custGeom>
              <a:avLst/>
              <a:gdLst/>
              <a:ahLst/>
              <a:cxnLst/>
              <a:rect r="r" b="b" t="t" l="l"/>
              <a:pathLst>
                <a:path h="805815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8058150"/>
                  </a:lnTo>
                  <a:lnTo>
                    <a:pt x="0" y="805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56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476925" y="3176831"/>
            <a:ext cx="5333925" cy="6043612"/>
            <a:chOff x="0" y="0"/>
            <a:chExt cx="7111900" cy="80581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7111873" cy="8058150"/>
            </a:xfrm>
            <a:custGeom>
              <a:avLst/>
              <a:gdLst/>
              <a:ahLst/>
              <a:cxnLst/>
              <a:rect r="r" b="b" t="t" l="l"/>
              <a:pathLst>
                <a:path h="805815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8058150"/>
                  </a:lnTo>
                  <a:lnTo>
                    <a:pt x="0" y="805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56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239475" y="3176831"/>
            <a:ext cx="5333925" cy="6043612"/>
            <a:chOff x="0" y="0"/>
            <a:chExt cx="7111900" cy="80581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7111873" cy="8058150"/>
            </a:xfrm>
            <a:custGeom>
              <a:avLst/>
              <a:gdLst/>
              <a:ahLst/>
              <a:cxnLst/>
              <a:rect r="r" b="b" t="t" l="l"/>
              <a:pathLst>
                <a:path h="8058150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8058150"/>
                  </a:lnTo>
                  <a:lnTo>
                    <a:pt x="0" y="805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5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57288" y="4686543"/>
            <a:ext cx="4670505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Languages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57288" y="5334243"/>
            <a:ext cx="4448100" cy="14288"/>
            <a:chOff x="0" y="0"/>
            <a:chExt cx="5930800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30773" cy="19050"/>
            </a:xfrm>
            <a:custGeom>
              <a:avLst/>
              <a:gdLst/>
              <a:ahLst/>
              <a:cxnLst/>
              <a:rect r="r" b="b" t="t" l="l"/>
              <a:pathLst>
                <a:path h="1905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157288" y="5462831"/>
            <a:ext cx="444810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Python (PySpark):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Used in Databricks for complex ETL and Feature Engineering.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7288" y="7120181"/>
            <a:ext cx="44481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SQL: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Used in Synapse Serverless Pools for creating reporting views.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19837" y="4686543"/>
            <a:ext cx="4670505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Core Frameworks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919837" y="5334243"/>
            <a:ext cx="4448100" cy="14288"/>
            <a:chOff x="0" y="0"/>
            <a:chExt cx="5930800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30773" cy="19050"/>
            </a:xfrm>
            <a:custGeom>
              <a:avLst/>
              <a:gdLst/>
              <a:ahLst/>
              <a:cxnLst/>
              <a:rect r="r" b="b" t="t" l="l"/>
              <a:pathLst>
                <a:path h="1905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6919837" y="5462831"/>
            <a:ext cx="44481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Azure Data Factory: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Orchestration pipelines.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19837" y="6662981"/>
            <a:ext cx="44481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Azure Databricks: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Big Data processing.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19837" y="7863131"/>
            <a:ext cx="44481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Delta Lake: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ACID transactions.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82388" y="4686543"/>
            <a:ext cx="4670505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&amp; Analytics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682388" y="5334243"/>
            <a:ext cx="4448100" cy="14288"/>
            <a:chOff x="0" y="0"/>
            <a:chExt cx="5930800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30773" cy="19050"/>
            </a:xfrm>
            <a:custGeom>
              <a:avLst/>
              <a:gdLst/>
              <a:ahLst/>
              <a:cxnLst/>
              <a:rect r="r" b="b" t="t" l="l"/>
              <a:pathLst>
                <a:path h="19050" w="5930773">
                  <a:moveTo>
                    <a:pt x="0" y="0"/>
                  </a:moveTo>
                  <a:lnTo>
                    <a:pt x="5930773" y="0"/>
                  </a:lnTo>
                  <a:lnTo>
                    <a:pt x="59307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2682388" y="5462831"/>
            <a:ext cx="44481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Azure ML Designer: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Visual ML pipelines.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82388" y="6662981"/>
            <a:ext cx="44481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MLflow: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Model lifecycle management.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82388" y="7863131"/>
            <a:ext cx="44481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Power BI: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Interactive visualization.</a:t>
            </a:r>
          </a:p>
        </p:txBody>
      </p:sp>
      <p:grpSp>
        <p:nvGrpSpPr>
          <p:cNvPr name="Group 43" id="43"/>
          <p:cNvGrpSpPr>
            <a:grpSpLocks noChangeAspect="true"/>
          </p:cNvGrpSpPr>
          <p:nvPr/>
        </p:nvGrpSpPr>
        <p:grpSpPr>
          <a:xfrm rot="0">
            <a:off x="1157288" y="3662606"/>
            <a:ext cx="500062" cy="571500"/>
            <a:chOff x="0" y="0"/>
            <a:chExt cx="666750" cy="7620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666750" cy="762000"/>
            </a:xfrm>
            <a:custGeom>
              <a:avLst/>
              <a:gdLst/>
              <a:ahLst/>
              <a:cxnLst/>
              <a:rect r="r" b="b" t="t" l="l"/>
              <a:pathLst>
                <a:path h="7620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500"/>
              </a:stretch>
            </a:blipFill>
          </p:spPr>
        </p:sp>
      </p:grpSp>
      <p:grpSp>
        <p:nvGrpSpPr>
          <p:cNvPr name="Group 45" id="45"/>
          <p:cNvGrpSpPr>
            <a:grpSpLocks noChangeAspect="true"/>
          </p:cNvGrpSpPr>
          <p:nvPr/>
        </p:nvGrpSpPr>
        <p:grpSpPr>
          <a:xfrm rot="0">
            <a:off x="6919837" y="3662606"/>
            <a:ext cx="714375" cy="571500"/>
            <a:chOff x="0" y="0"/>
            <a:chExt cx="952500" cy="76200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500"/>
              </a:stretch>
            </a:blipFill>
          </p:spPr>
        </p:sp>
      </p:grpSp>
      <p:grpSp>
        <p:nvGrpSpPr>
          <p:cNvPr name="Group 47" id="47"/>
          <p:cNvGrpSpPr>
            <a:grpSpLocks noChangeAspect="true"/>
          </p:cNvGrpSpPr>
          <p:nvPr/>
        </p:nvGrpSpPr>
        <p:grpSpPr>
          <a:xfrm rot="0">
            <a:off x="12682388" y="3662606"/>
            <a:ext cx="571500" cy="571500"/>
            <a:chOff x="0" y="0"/>
            <a:chExt cx="762000" cy="7620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250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714375" y="1870544"/>
            <a:ext cx="17573625" cy="13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Languages &amp; Frameworks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250" y="1469008"/>
            <a:ext cx="565517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Ingestion Pipelines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08015" y="1427672"/>
            <a:ext cx="7929450" cy="61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Nagat Osama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57250" y="2367315"/>
            <a:ext cx="7929450" cy="1485900"/>
            <a:chOff x="0" y="0"/>
            <a:chExt cx="10572600" cy="198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714500" y="2481615"/>
            <a:ext cx="6786450" cy="10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Pipeline 1 (Energy):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Ingests daily batch CSV files into ADLS Raw and promotes to Bronze.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7250" y="2367315"/>
            <a:ext cx="71550" cy="1485900"/>
            <a:chOff x="0" y="0"/>
            <a:chExt cx="95400" cy="198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14438" y="2938815"/>
            <a:ext cx="342900" cy="342900"/>
            <a:chOff x="0" y="0"/>
            <a:chExt cx="457200" cy="457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4164693" y="4138965"/>
            <a:ext cx="9244013" cy="4872037"/>
            <a:chOff x="0" y="0"/>
            <a:chExt cx="12325350" cy="6496050"/>
          </a:xfrm>
        </p:grpSpPr>
        <p:sp>
          <p:nvSpPr>
            <p:cNvPr name="Freeform 27" id="27" descr="A screenshot of a computer  AI-generated content may be incorrect."/>
            <p:cNvSpPr/>
            <p:nvPr/>
          </p:nvSpPr>
          <p:spPr>
            <a:xfrm flipH="false" flipV="false" rot="0">
              <a:off x="0" y="0"/>
              <a:ext cx="12325350" cy="6496050"/>
            </a:xfrm>
            <a:custGeom>
              <a:avLst/>
              <a:gdLst/>
              <a:ahLst/>
              <a:cxnLst/>
              <a:rect r="r" b="b" t="t" l="l"/>
              <a:pathLst>
                <a:path h="6496050" w="12325350">
                  <a:moveTo>
                    <a:pt x="0" y="0"/>
                  </a:moveTo>
                  <a:lnTo>
                    <a:pt x="12325350" y="0"/>
                  </a:lnTo>
                  <a:lnTo>
                    <a:pt x="12325350" y="6496050"/>
                  </a:lnTo>
                  <a:lnTo>
                    <a:pt x="0" y="6496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250" y="1469008"/>
            <a:ext cx="8325900" cy="83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Ingestion Pipelines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08015" y="1427672"/>
            <a:ext cx="7929450" cy="61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Nagat Osama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57250" y="2522430"/>
            <a:ext cx="7929450" cy="1485900"/>
            <a:chOff x="0" y="0"/>
            <a:chExt cx="10572600" cy="198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714500" y="2636730"/>
            <a:ext cx="6786450" cy="10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Pipeline 2 (Weather):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Fetches real-time REST API data, handling JSON responses.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7250" y="2522430"/>
            <a:ext cx="71550" cy="1485900"/>
            <a:chOff x="0" y="0"/>
            <a:chExt cx="95400" cy="198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14438" y="3093930"/>
            <a:ext cx="428625" cy="342900"/>
            <a:chOff x="0" y="0"/>
            <a:chExt cx="571500" cy="457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5581904" y="4294080"/>
            <a:ext cx="6409593" cy="4626588"/>
            <a:chOff x="0" y="0"/>
            <a:chExt cx="8546124" cy="6168784"/>
          </a:xfrm>
        </p:grpSpPr>
        <p:sp>
          <p:nvSpPr>
            <p:cNvPr name="Freeform 27" id="27" descr="A screenshot of a computer  AI-generated content may be incorrect."/>
            <p:cNvSpPr/>
            <p:nvPr/>
          </p:nvSpPr>
          <p:spPr>
            <a:xfrm flipH="false" flipV="false" rot="0">
              <a:off x="0" y="0"/>
              <a:ext cx="8546084" cy="6168771"/>
            </a:xfrm>
            <a:custGeom>
              <a:avLst/>
              <a:gdLst/>
              <a:ahLst/>
              <a:cxnLst/>
              <a:rect r="r" b="b" t="t" l="l"/>
              <a:pathLst>
                <a:path h="6168771" w="8546084">
                  <a:moveTo>
                    <a:pt x="0" y="0"/>
                  </a:moveTo>
                  <a:lnTo>
                    <a:pt x="8546084" y="0"/>
                  </a:lnTo>
                  <a:lnTo>
                    <a:pt x="8546084" y="6168771"/>
                  </a:lnTo>
                  <a:lnTo>
                    <a:pt x="0" y="6168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250" y="1469008"/>
            <a:ext cx="8325900" cy="83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Ingestion Pipelines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08015" y="1427672"/>
            <a:ext cx="7929450" cy="61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Nagat Osama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57250" y="2563256"/>
            <a:ext cx="7929450" cy="1485900"/>
            <a:chOff x="0" y="0"/>
            <a:chExt cx="10572600" cy="198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714500" y="2677556"/>
            <a:ext cx="678645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Pipeline 3 (Traffic):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Captures live congestion data via API for correlating load spikes.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7250" y="2563256"/>
            <a:ext cx="71550" cy="1485900"/>
            <a:chOff x="0" y="0"/>
            <a:chExt cx="95400" cy="198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214438" y="3134756"/>
            <a:ext cx="342900" cy="342900"/>
            <a:chOff x="0" y="0"/>
            <a:chExt cx="457200" cy="457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5873580" y="4334906"/>
            <a:ext cx="5826238" cy="4752520"/>
            <a:chOff x="0" y="0"/>
            <a:chExt cx="7768318" cy="6336694"/>
          </a:xfrm>
        </p:grpSpPr>
        <p:sp>
          <p:nvSpPr>
            <p:cNvPr name="Freeform 27" id="27" descr="A screenshot of a computer  AI-generated content may be incorrect."/>
            <p:cNvSpPr/>
            <p:nvPr/>
          </p:nvSpPr>
          <p:spPr>
            <a:xfrm flipH="false" flipV="false" rot="0">
              <a:off x="0" y="0"/>
              <a:ext cx="7768336" cy="6336665"/>
            </a:xfrm>
            <a:custGeom>
              <a:avLst/>
              <a:gdLst/>
              <a:ahLst/>
              <a:cxnLst/>
              <a:rect r="r" b="b" t="t" l="l"/>
              <a:pathLst>
                <a:path h="6336665" w="7768336">
                  <a:moveTo>
                    <a:pt x="0" y="0"/>
                  </a:moveTo>
                  <a:lnTo>
                    <a:pt x="7768336" y="0"/>
                  </a:lnTo>
                  <a:lnTo>
                    <a:pt x="7768336" y="6336665"/>
                  </a:lnTo>
                  <a:lnTo>
                    <a:pt x="0" y="6336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2627538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1469008"/>
            <a:ext cx="8325900" cy="83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Ingestion Pipelines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08015" y="1427672"/>
            <a:ext cx="7929450" cy="61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Nagat Osama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7250" y="2457122"/>
            <a:ext cx="7929450" cy="1485900"/>
            <a:chOff x="0" y="0"/>
            <a:chExt cx="10572600" cy="198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57250" y="2457122"/>
            <a:ext cx="71550" cy="1485900"/>
            <a:chOff x="0" y="0"/>
            <a:chExt cx="95400" cy="1981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214438" y="3028622"/>
            <a:ext cx="300038" cy="342900"/>
            <a:chOff x="0" y="0"/>
            <a:chExt cx="400050" cy="4572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9580476" y="6656914"/>
            <a:ext cx="7654665" cy="2503411"/>
            <a:chOff x="0" y="0"/>
            <a:chExt cx="10206220" cy="3337882"/>
          </a:xfrm>
        </p:grpSpPr>
        <p:sp>
          <p:nvSpPr>
            <p:cNvPr name="Freeform 29" id="29" descr="A screenshot of a computer program  AI-generated content may be incorrect."/>
            <p:cNvSpPr/>
            <p:nvPr/>
          </p:nvSpPr>
          <p:spPr>
            <a:xfrm flipH="false" flipV="false" rot="0">
              <a:off x="0" y="0"/>
              <a:ext cx="10206228" cy="3337941"/>
            </a:xfrm>
            <a:custGeom>
              <a:avLst/>
              <a:gdLst/>
              <a:ahLst/>
              <a:cxnLst/>
              <a:rect r="r" b="b" t="t" l="l"/>
              <a:pathLst>
                <a:path h="3337941" w="10206228">
                  <a:moveTo>
                    <a:pt x="0" y="0"/>
                  </a:moveTo>
                  <a:lnTo>
                    <a:pt x="10206228" y="0"/>
                  </a:lnTo>
                  <a:lnTo>
                    <a:pt x="10206228" y="3337941"/>
                  </a:lnTo>
                  <a:lnTo>
                    <a:pt x="0" y="33379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1"/>
              </a:stretch>
            </a:blip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5356968" y="4058355"/>
            <a:ext cx="7279102" cy="2407262"/>
            <a:chOff x="0" y="0"/>
            <a:chExt cx="9705470" cy="3209682"/>
          </a:xfrm>
        </p:grpSpPr>
        <p:sp>
          <p:nvSpPr>
            <p:cNvPr name="Freeform 31" id="31" descr="A screenshot of a computer  AI-generated content may be incorrect."/>
            <p:cNvSpPr/>
            <p:nvPr/>
          </p:nvSpPr>
          <p:spPr>
            <a:xfrm flipH="false" flipV="false" rot="0">
              <a:off x="0" y="0"/>
              <a:ext cx="9705467" cy="3209671"/>
            </a:xfrm>
            <a:custGeom>
              <a:avLst/>
              <a:gdLst/>
              <a:ahLst/>
              <a:cxnLst/>
              <a:rect r="r" b="b" t="t" l="l"/>
              <a:pathLst>
                <a:path h="3209671" w="9705467">
                  <a:moveTo>
                    <a:pt x="0" y="0"/>
                  </a:moveTo>
                  <a:lnTo>
                    <a:pt x="9705467" y="0"/>
                  </a:lnTo>
                  <a:lnTo>
                    <a:pt x="9705467" y="3209671"/>
                  </a:lnTo>
                  <a:lnTo>
                    <a:pt x="0" y="32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857250" y="6609333"/>
            <a:ext cx="7279102" cy="2702352"/>
            <a:chOff x="0" y="0"/>
            <a:chExt cx="9705470" cy="3603136"/>
          </a:xfrm>
        </p:grpSpPr>
        <p:sp>
          <p:nvSpPr>
            <p:cNvPr name="Freeform 33" id="33" descr="A screenshot of a computer  AI-generated content may be incorrect."/>
            <p:cNvSpPr/>
            <p:nvPr/>
          </p:nvSpPr>
          <p:spPr>
            <a:xfrm flipH="false" flipV="false" rot="0">
              <a:off x="0" y="0"/>
              <a:ext cx="9705467" cy="3603117"/>
            </a:xfrm>
            <a:custGeom>
              <a:avLst/>
              <a:gdLst/>
              <a:ahLst/>
              <a:cxnLst/>
              <a:rect r="r" b="b" t="t" l="l"/>
              <a:pathLst>
                <a:path h="3603117" w="9705467">
                  <a:moveTo>
                    <a:pt x="0" y="0"/>
                  </a:moveTo>
                  <a:lnTo>
                    <a:pt x="9705467" y="0"/>
                  </a:lnTo>
                  <a:lnTo>
                    <a:pt x="9705467" y="3603117"/>
                  </a:lnTo>
                  <a:lnTo>
                    <a:pt x="0" y="3603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976665" y="2851693"/>
            <a:ext cx="30435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hourly triggers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250" y="1436350"/>
            <a:ext cx="8325900" cy="83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Ingestion Pipelines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08015" y="1346027"/>
            <a:ext cx="7929450" cy="61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Nagat Osama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583454" y="2262898"/>
            <a:ext cx="14663476" cy="7020139"/>
            <a:chOff x="0" y="0"/>
            <a:chExt cx="19551302" cy="9360186"/>
          </a:xfrm>
        </p:grpSpPr>
        <p:sp>
          <p:nvSpPr>
            <p:cNvPr name="Freeform 20" id="20" descr="A screenshot of a computer  AI-generated content may be incorrect."/>
            <p:cNvSpPr/>
            <p:nvPr/>
          </p:nvSpPr>
          <p:spPr>
            <a:xfrm flipH="false" flipV="false" rot="0">
              <a:off x="0" y="0"/>
              <a:ext cx="19551269" cy="9360154"/>
            </a:xfrm>
            <a:custGeom>
              <a:avLst/>
              <a:gdLst/>
              <a:ahLst/>
              <a:cxnLst/>
              <a:rect r="r" b="b" t="t" l="l"/>
              <a:pathLst>
                <a:path h="9360154" w="19551269">
                  <a:moveTo>
                    <a:pt x="0" y="0"/>
                  </a:moveTo>
                  <a:lnTo>
                    <a:pt x="19551269" y="0"/>
                  </a:lnTo>
                  <a:lnTo>
                    <a:pt x="19551269" y="9360154"/>
                  </a:lnTo>
                  <a:lnTo>
                    <a:pt x="0" y="936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14375" y="4117382"/>
            <a:ext cx="8072438" cy="3871913"/>
            <a:chOff x="0" y="0"/>
            <a:chExt cx="10763250" cy="51625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763250" cy="5162550"/>
            </a:xfrm>
            <a:custGeom>
              <a:avLst/>
              <a:gdLst/>
              <a:ahLst/>
              <a:cxnLst/>
              <a:rect r="r" b="b" t="t" l="l"/>
              <a:pathLst>
                <a:path h="51625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5162550"/>
                  </a:lnTo>
                  <a:lnTo>
                    <a:pt x="0" y="516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69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501188" y="4117382"/>
            <a:ext cx="8072438" cy="4800600"/>
            <a:chOff x="0" y="0"/>
            <a:chExt cx="10763250" cy="64008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0763250" cy="6400800"/>
            </a:xfrm>
            <a:custGeom>
              <a:avLst/>
              <a:gdLst/>
              <a:ahLst/>
              <a:cxnLst/>
              <a:rect r="r" b="b" t="t" l="l"/>
              <a:pathLst>
                <a:path h="640080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6400800"/>
                  </a:lnTo>
                  <a:lnTo>
                    <a:pt x="0" y="640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97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51529" y="4941294"/>
            <a:ext cx="639994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Cleaning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57288" y="5588994"/>
            <a:ext cx="7186612" cy="14288"/>
            <a:chOff x="0" y="0"/>
            <a:chExt cx="9582150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82150" cy="19050"/>
            </a:xfrm>
            <a:custGeom>
              <a:avLst/>
              <a:gdLst/>
              <a:ahLst/>
              <a:cxnLst/>
              <a:rect r="r" b="b" t="t" l="l"/>
              <a:pathLst>
                <a:path h="19050" w="9582150">
                  <a:moveTo>
                    <a:pt x="0" y="0"/>
                  </a:moveTo>
                  <a:lnTo>
                    <a:pt x="9582150" y="0"/>
                  </a:lnTo>
                  <a:lnTo>
                    <a:pt x="9582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57288" y="5717581"/>
            <a:ext cx="718661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Implemented PySpark logic to remove duplicates and handle missing values using mean imputation. This ensures high-quality input for the ML models.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34638" y="4941294"/>
            <a:ext cx="602664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Transformation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44100" y="5588994"/>
            <a:ext cx="7186612" cy="14288"/>
            <a:chOff x="0" y="0"/>
            <a:chExt cx="9582150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82150" cy="19050"/>
            </a:xfrm>
            <a:custGeom>
              <a:avLst/>
              <a:gdLst/>
              <a:ahLst/>
              <a:cxnLst/>
              <a:rect r="r" b="b" t="t" l="l"/>
              <a:pathLst>
                <a:path h="19050" w="9582150">
                  <a:moveTo>
                    <a:pt x="0" y="0"/>
                  </a:moveTo>
                  <a:lnTo>
                    <a:pt x="9582150" y="0"/>
                  </a:lnTo>
                  <a:lnTo>
                    <a:pt x="9582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944100" y="5793781"/>
            <a:ext cx="7186612" cy="2395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Weather: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Exploded complex JSON arrays to align history.</a:t>
            </a:r>
          </a:p>
          <a:p>
            <a:pPr algn="l">
              <a:lnSpc>
                <a:spcPts val="3599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Traffic: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Flattened nested structures to calculate congestion indices.</a:t>
            </a:r>
          </a:p>
          <a:p>
            <a:pPr algn="l">
              <a:lnSpc>
                <a:spcPts val="3599"/>
              </a:lnSpc>
            </a:pPr>
            <a:r>
              <a:rPr lang="en-US" b="true" sz="2250">
                <a:solidFill>
                  <a:srgbClr val="E2E8F0"/>
                </a:solidFill>
                <a:latin typeface="Arimo Bold"/>
                <a:ea typeface="Arimo Bold"/>
                <a:cs typeface="Arimo Bold"/>
                <a:sym typeface="Arimo Bold"/>
              </a:rPr>
              <a:t>Master Table:</a:t>
            </a: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Joined all sources into silver.smartcity_master.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157288" y="5003206"/>
            <a:ext cx="457200" cy="400050"/>
            <a:chOff x="0" y="0"/>
            <a:chExt cx="609600" cy="5334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3571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9944100" y="5003206"/>
            <a:ext cx="357188" cy="400050"/>
            <a:chOff x="0" y="0"/>
            <a:chExt cx="476250" cy="5334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47625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3571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14375" y="1748239"/>
            <a:ext cx="175736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Data Processing (Silver Layer)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4375" y="2887145"/>
            <a:ext cx="4224150" cy="61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Ebrahim Ateff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714375" y="2760532"/>
            <a:ext cx="8072438" cy="3871913"/>
            <a:chOff x="0" y="0"/>
            <a:chExt cx="10763250" cy="516255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10763250" cy="5162550"/>
            </a:xfrm>
            <a:custGeom>
              <a:avLst/>
              <a:gdLst/>
              <a:ahLst/>
              <a:cxnLst/>
              <a:rect r="r" b="b" t="t" l="l"/>
              <a:pathLst>
                <a:path h="51625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5162550"/>
                  </a:lnTo>
                  <a:lnTo>
                    <a:pt x="0" y="516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69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501188" y="2760532"/>
            <a:ext cx="8072438" cy="3871913"/>
            <a:chOff x="0" y="0"/>
            <a:chExt cx="10763250" cy="516255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10763250" cy="5162550"/>
            </a:xfrm>
            <a:custGeom>
              <a:avLst/>
              <a:gdLst/>
              <a:ahLst/>
              <a:cxnLst/>
              <a:rect r="r" b="b" t="t" l="l"/>
              <a:pathLst>
                <a:path h="51625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5162550"/>
                  </a:lnTo>
                  <a:lnTo>
                    <a:pt x="0" y="516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435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62088" y="3584445"/>
            <a:ext cx="724114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Cleaning Steps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57288" y="4232145"/>
            <a:ext cx="7186612" cy="14288"/>
            <a:chOff x="0" y="0"/>
            <a:chExt cx="9582150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82150" cy="19050"/>
            </a:xfrm>
            <a:custGeom>
              <a:avLst/>
              <a:gdLst/>
              <a:ahLst/>
              <a:cxnLst/>
              <a:rect r="r" b="b" t="t" l="l"/>
              <a:pathLst>
                <a:path h="19050" w="9582150">
                  <a:moveTo>
                    <a:pt x="0" y="0"/>
                  </a:moveTo>
                  <a:lnTo>
                    <a:pt x="9582150" y="0"/>
                  </a:lnTo>
                  <a:lnTo>
                    <a:pt x="9582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57288" y="4522657"/>
            <a:ext cx="7186612" cy="162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1. Mount &amp; Load: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 Read raw data from ADLS.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2. Deduplication: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 Used dropDuplicates().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3. Validation: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 Cast string timestamps to TimestampType.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4. Null Handling: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 Applied Mean Imputation for missing values.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82225" y="3584445"/>
            <a:ext cx="7307817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Transformation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44100" y="4232145"/>
            <a:ext cx="7186612" cy="14288"/>
            <a:chOff x="0" y="0"/>
            <a:chExt cx="9582150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82150" cy="19050"/>
            </a:xfrm>
            <a:custGeom>
              <a:avLst/>
              <a:gdLst/>
              <a:ahLst/>
              <a:cxnLst/>
              <a:rect r="r" b="b" t="t" l="l"/>
              <a:pathLst>
                <a:path h="19050" w="9582150">
                  <a:moveTo>
                    <a:pt x="0" y="0"/>
                  </a:moveTo>
                  <a:lnTo>
                    <a:pt x="9582150" y="0"/>
                  </a:lnTo>
                  <a:lnTo>
                    <a:pt x="9582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944100" y="4522657"/>
            <a:ext cx="7186612" cy="1948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Flattening: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 Used explode() and arrays_zip() for nested JSON.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Feature Eng: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 Created peak_hour_flag (17:00-22:00) &amp; weekend_flag.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Integration: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 Joined Energy + Weather + Traffic on timestamp.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157288" y="3646358"/>
            <a:ext cx="457200" cy="400050"/>
            <a:chOff x="0" y="0"/>
            <a:chExt cx="609600" cy="5334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609600" cy="533400"/>
            </a:xfrm>
            <a:custGeom>
              <a:avLst/>
              <a:gdLst/>
              <a:ahLst/>
              <a:cxnLst/>
              <a:rect r="r" b="b" t="t" l="l"/>
              <a:pathLst>
                <a:path h="5334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3571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9944100" y="3646358"/>
            <a:ext cx="357188" cy="400050"/>
            <a:chOff x="0" y="0"/>
            <a:chExt cx="476250" cy="5334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476250" cy="533400"/>
            </a:xfrm>
            <a:custGeom>
              <a:avLst/>
              <a:gdLst/>
              <a:ahLst/>
              <a:cxnLst/>
              <a:rect r="r" b="b" t="t" l="l"/>
              <a:pathLst>
                <a:path h="5334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3571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14375" y="1748240"/>
            <a:ext cx="17573625" cy="13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Data Processing (Silver Layer)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13315" y="1819921"/>
            <a:ext cx="4039642" cy="610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Ebrahim Ateff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7114371" y="7323891"/>
            <a:ext cx="5380203" cy="1281000"/>
            <a:chOff x="0" y="0"/>
            <a:chExt cx="7173604" cy="1708000"/>
          </a:xfrm>
        </p:grpSpPr>
        <p:sp>
          <p:nvSpPr>
            <p:cNvPr name="Freeform 39" id="39" descr="A black background with white text  AI-generated content may be incorrect."/>
            <p:cNvSpPr/>
            <p:nvPr/>
          </p:nvSpPr>
          <p:spPr>
            <a:xfrm flipH="false" flipV="false" rot="0">
              <a:off x="0" y="0"/>
              <a:ext cx="7173595" cy="1708023"/>
            </a:xfrm>
            <a:custGeom>
              <a:avLst/>
              <a:gdLst/>
              <a:ahLst/>
              <a:cxnLst/>
              <a:rect r="r" b="b" t="t" l="l"/>
              <a:pathLst>
                <a:path h="1708023" w="7173595">
                  <a:moveTo>
                    <a:pt x="0" y="0"/>
                  </a:moveTo>
                  <a:lnTo>
                    <a:pt x="7173595" y="0"/>
                  </a:lnTo>
                  <a:lnTo>
                    <a:pt x="7173595" y="1708023"/>
                  </a:lnTo>
                  <a:lnTo>
                    <a:pt x="0" y="170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1"/>
              </a:stretch>
            </a:blip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13514368" y="7362768"/>
            <a:ext cx="4052828" cy="1251208"/>
            <a:chOff x="0" y="0"/>
            <a:chExt cx="5403770" cy="166827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03723" cy="1668272"/>
            </a:xfrm>
            <a:custGeom>
              <a:avLst/>
              <a:gdLst/>
              <a:ahLst/>
              <a:cxnLst/>
              <a:rect r="r" b="b" t="t" l="l"/>
              <a:pathLst>
                <a:path h="1668272" w="5403723">
                  <a:moveTo>
                    <a:pt x="0" y="0"/>
                  </a:moveTo>
                  <a:lnTo>
                    <a:pt x="5403723" y="0"/>
                  </a:lnTo>
                  <a:lnTo>
                    <a:pt x="5403723" y="1668272"/>
                  </a:lnTo>
                  <a:lnTo>
                    <a:pt x="0" y="166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714375" y="7338786"/>
            <a:ext cx="5380203" cy="1251210"/>
            <a:chOff x="0" y="0"/>
            <a:chExt cx="7173604" cy="1668280"/>
          </a:xfrm>
        </p:grpSpPr>
        <p:sp>
          <p:nvSpPr>
            <p:cNvPr name="Freeform 43" id="43" descr="A black background with white text  AI-generated content may be incorrect."/>
            <p:cNvSpPr/>
            <p:nvPr/>
          </p:nvSpPr>
          <p:spPr>
            <a:xfrm flipH="false" flipV="false" rot="0">
              <a:off x="0" y="0"/>
              <a:ext cx="7173595" cy="1668272"/>
            </a:xfrm>
            <a:custGeom>
              <a:avLst/>
              <a:gdLst/>
              <a:ahLst/>
              <a:cxnLst/>
              <a:rect r="r" b="b" t="t" l="l"/>
              <a:pathLst>
                <a:path h="1668272" w="7173595">
                  <a:moveTo>
                    <a:pt x="0" y="0"/>
                  </a:moveTo>
                  <a:lnTo>
                    <a:pt x="7173595" y="0"/>
                  </a:lnTo>
                  <a:lnTo>
                    <a:pt x="7173595" y="1668272"/>
                  </a:lnTo>
                  <a:lnTo>
                    <a:pt x="0" y="166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84343" y="3125602"/>
            <a:ext cx="12974931" cy="6348185"/>
          </a:xfrm>
          <a:custGeom>
            <a:avLst/>
            <a:gdLst/>
            <a:ahLst/>
            <a:cxnLst/>
            <a:rect r="r" b="b" t="t" l="l"/>
            <a:pathLst>
              <a:path h="6348185" w="12974931">
                <a:moveTo>
                  <a:pt x="0" y="0"/>
                </a:moveTo>
                <a:lnTo>
                  <a:pt x="12974931" y="0"/>
                </a:lnTo>
                <a:lnTo>
                  <a:pt x="12974931" y="6348185"/>
                </a:lnTo>
                <a:lnTo>
                  <a:pt x="0" y="6348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40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039929"/>
            <a:ext cx="12901056" cy="107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0"/>
              </a:lnSpc>
            </a:pPr>
            <a:r>
              <a:rPr lang="en-US" sz="6221" b="true">
                <a:solidFill>
                  <a:srgbClr val="0FAB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</a:t>
            </a:r>
            <a:r>
              <a:rPr lang="en-US" b="true" sz="6221">
                <a:solidFill>
                  <a:srgbClr val="0FAB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Processing (Silver Layer)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795263" y="2294582"/>
            <a:ext cx="512802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1BA40"/>
                </a:solidFill>
                <a:latin typeface="Canva Sans"/>
                <a:ea typeface="Canva Sans"/>
                <a:cs typeface="Canva Sans"/>
                <a:sym typeface="Canva Sans"/>
              </a:rPr>
              <a:t>Presen</a:t>
            </a:r>
            <a:r>
              <a:rPr lang="en-US" sz="3399">
                <a:solidFill>
                  <a:srgbClr val="F1BA40"/>
                </a:solidFill>
                <a:latin typeface="Canva Sans"/>
                <a:ea typeface="Canva Sans"/>
                <a:cs typeface="Canva Sans"/>
                <a:sym typeface="Canva Sans"/>
              </a:rPr>
              <a:t>ter: Ebrahim Ateff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14375" y="2233631"/>
            <a:ext cx="8072438" cy="74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Abdullah Mohamed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" y="1672564"/>
            <a:ext cx="17573850" cy="83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Forecasting &amp; AI Models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78398" y="2982160"/>
            <a:ext cx="10045280" cy="6380254"/>
            <a:chOff x="0" y="0"/>
            <a:chExt cx="13393706" cy="8507006"/>
          </a:xfrm>
        </p:grpSpPr>
        <p:sp>
          <p:nvSpPr>
            <p:cNvPr name="Freeform 23" id="23" descr="A screenshot of a computer  AI-generated content may be incorrect."/>
            <p:cNvSpPr/>
            <p:nvPr/>
          </p:nvSpPr>
          <p:spPr>
            <a:xfrm flipH="false" flipV="false" rot="0">
              <a:off x="0" y="0"/>
              <a:ext cx="13393674" cy="8506968"/>
            </a:xfrm>
            <a:custGeom>
              <a:avLst/>
              <a:gdLst/>
              <a:ahLst/>
              <a:cxnLst/>
              <a:rect r="r" b="b" t="t" l="l"/>
              <a:pathLst>
                <a:path h="8506968" w="13393674">
                  <a:moveTo>
                    <a:pt x="0" y="0"/>
                  </a:moveTo>
                  <a:lnTo>
                    <a:pt x="13393674" y="0"/>
                  </a:lnTo>
                  <a:lnTo>
                    <a:pt x="13393674" y="8506968"/>
                  </a:lnTo>
                  <a:lnTo>
                    <a:pt x="0" y="8506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" r="0" b="-3"/>
              </a:stretch>
            </a:blipFill>
          </p:spPr>
        </p:sp>
      </p:grpSp>
      <p:sp>
        <p:nvSpPr>
          <p:cNvPr name="Freeform 24" id="24" descr="A screenshot of a computer  AI-generated content may be incorrect."/>
          <p:cNvSpPr/>
          <p:nvPr/>
        </p:nvSpPr>
        <p:spPr>
          <a:xfrm flipH="false" flipV="false" rot="0">
            <a:off x="10809790" y="1575873"/>
            <a:ext cx="6004998" cy="7682427"/>
          </a:xfrm>
          <a:custGeom>
            <a:avLst/>
            <a:gdLst/>
            <a:ahLst/>
            <a:cxnLst/>
            <a:rect r="r" b="b" t="t" l="l"/>
            <a:pathLst>
              <a:path h="7682427" w="6004998">
                <a:moveTo>
                  <a:pt x="0" y="0"/>
                </a:moveTo>
                <a:lnTo>
                  <a:pt x="6004998" y="0"/>
                </a:lnTo>
                <a:lnTo>
                  <a:pt x="6004998" y="7682427"/>
                </a:lnTo>
                <a:lnTo>
                  <a:pt x="0" y="76824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14375" y="2233631"/>
            <a:ext cx="8072438" cy="74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Abdullah Mohamed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14375" y="3267910"/>
            <a:ext cx="8072438" cy="2781825"/>
            <a:chOff x="0" y="0"/>
            <a:chExt cx="10763250" cy="370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3250" cy="3709162"/>
            </a:xfrm>
            <a:custGeom>
              <a:avLst/>
              <a:gdLst/>
              <a:ahLst/>
              <a:cxnLst/>
              <a:rect r="r" b="b" t="t" l="l"/>
              <a:pathLst>
                <a:path h="3709162" w="10763250">
                  <a:moveTo>
                    <a:pt x="0" y="45847"/>
                  </a:moveTo>
                  <a:cubicBezTo>
                    <a:pt x="0" y="20447"/>
                    <a:pt x="20447" y="0"/>
                    <a:pt x="45847" y="0"/>
                  </a:cubicBezTo>
                  <a:lnTo>
                    <a:pt x="10717403" y="0"/>
                  </a:lnTo>
                  <a:cubicBezTo>
                    <a:pt x="10742676" y="0"/>
                    <a:pt x="10763250" y="20447"/>
                    <a:pt x="10763250" y="45847"/>
                  </a:cubicBezTo>
                  <a:lnTo>
                    <a:pt x="10763250" y="3663315"/>
                  </a:lnTo>
                  <a:cubicBezTo>
                    <a:pt x="10763250" y="3688588"/>
                    <a:pt x="10742803" y="3709162"/>
                    <a:pt x="10717403" y="3709162"/>
                  </a:cubicBezTo>
                  <a:lnTo>
                    <a:pt x="45847" y="3709162"/>
                  </a:lnTo>
                  <a:cubicBezTo>
                    <a:pt x="20574" y="3709162"/>
                    <a:pt x="0" y="3688715"/>
                    <a:pt x="0" y="3663315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473652" y="3231169"/>
            <a:ext cx="6929438" cy="2694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b="true" sz="33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Data Strategy:</a:t>
            </a:r>
            <a:r>
              <a:rPr lang="en-US" sz="330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Split historical data into 80% Training and 20% Testing sets for validation.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3267910"/>
            <a:ext cx="71438" cy="2781825"/>
            <a:chOff x="0" y="0"/>
            <a:chExt cx="95250" cy="370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250" cy="3709162"/>
            </a:xfrm>
            <a:custGeom>
              <a:avLst/>
              <a:gdLst/>
              <a:ahLst/>
              <a:cxnLst/>
              <a:rect r="r" b="b" t="t" l="l"/>
              <a:pathLst>
                <a:path h="3709162" w="95250">
                  <a:moveTo>
                    <a:pt x="0" y="0"/>
                  </a:moveTo>
                  <a:lnTo>
                    <a:pt x="95250" y="0"/>
                  </a:lnTo>
                  <a:lnTo>
                    <a:pt x="95250" y="3709162"/>
                  </a:lnTo>
                  <a:lnTo>
                    <a:pt x="0" y="3709162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85812" y="6335486"/>
            <a:ext cx="8072438" cy="2481944"/>
            <a:chOff x="0" y="0"/>
            <a:chExt cx="10763250" cy="33092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3250" cy="3309366"/>
            </a:xfrm>
            <a:custGeom>
              <a:avLst/>
              <a:gdLst/>
              <a:ahLst/>
              <a:cxnLst/>
              <a:rect r="r" b="b" t="t" l="l"/>
              <a:pathLst>
                <a:path h="3309366" w="10763250">
                  <a:moveTo>
                    <a:pt x="0" y="15113"/>
                  </a:moveTo>
                  <a:cubicBezTo>
                    <a:pt x="0" y="6731"/>
                    <a:pt x="6731" y="0"/>
                    <a:pt x="15113" y="0"/>
                  </a:cubicBezTo>
                  <a:lnTo>
                    <a:pt x="10748137" y="0"/>
                  </a:lnTo>
                  <a:cubicBezTo>
                    <a:pt x="10756392" y="0"/>
                    <a:pt x="10763250" y="6731"/>
                    <a:pt x="10763250" y="15113"/>
                  </a:cubicBezTo>
                  <a:lnTo>
                    <a:pt x="10763250" y="3294253"/>
                  </a:lnTo>
                  <a:cubicBezTo>
                    <a:pt x="10763250" y="3302508"/>
                    <a:pt x="10756519" y="3309366"/>
                    <a:pt x="10748137" y="3309366"/>
                  </a:cubicBezTo>
                  <a:lnTo>
                    <a:pt x="15113" y="3309366"/>
                  </a:lnTo>
                  <a:cubicBezTo>
                    <a:pt x="6858" y="3309366"/>
                    <a:pt x="0" y="3302635"/>
                    <a:pt x="0" y="3294253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643062" y="6287859"/>
            <a:ext cx="6929438" cy="243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3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Models:</a:t>
            </a:r>
            <a:r>
              <a:rPr lang="en-US" sz="300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Trained ARIMA and Prophet models on the Silver Master table to predict demand.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85812" y="6335486"/>
            <a:ext cx="71438" cy="2481944"/>
            <a:chOff x="0" y="0"/>
            <a:chExt cx="95250" cy="33092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250" cy="3309239"/>
            </a:xfrm>
            <a:custGeom>
              <a:avLst/>
              <a:gdLst/>
              <a:ahLst/>
              <a:cxnLst/>
              <a:rect r="r" b="b" t="t" l="l"/>
              <a:pathLst>
                <a:path h="3309239" w="95250">
                  <a:moveTo>
                    <a:pt x="0" y="0"/>
                  </a:moveTo>
                  <a:lnTo>
                    <a:pt x="95250" y="0"/>
                  </a:lnTo>
                  <a:lnTo>
                    <a:pt x="95250" y="3309239"/>
                  </a:lnTo>
                  <a:lnTo>
                    <a:pt x="0" y="3309239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286875" y="3267910"/>
            <a:ext cx="8072438" cy="5549518"/>
            <a:chOff x="0" y="0"/>
            <a:chExt cx="10763250" cy="73993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63250" cy="7399401"/>
            </a:xfrm>
            <a:custGeom>
              <a:avLst/>
              <a:gdLst/>
              <a:ahLst/>
              <a:cxnLst/>
              <a:rect r="r" b="b" t="t" l="l"/>
              <a:pathLst>
                <a:path h="7399401" w="10763250">
                  <a:moveTo>
                    <a:pt x="0" y="150241"/>
                  </a:moveTo>
                  <a:cubicBezTo>
                    <a:pt x="0" y="67310"/>
                    <a:pt x="67310" y="0"/>
                    <a:pt x="150241" y="0"/>
                  </a:cubicBezTo>
                  <a:lnTo>
                    <a:pt x="10613009" y="0"/>
                  </a:lnTo>
                  <a:cubicBezTo>
                    <a:pt x="10695940" y="0"/>
                    <a:pt x="10763250" y="67310"/>
                    <a:pt x="10763250" y="150241"/>
                  </a:cubicBezTo>
                  <a:lnTo>
                    <a:pt x="10763250" y="7249160"/>
                  </a:lnTo>
                  <a:cubicBezTo>
                    <a:pt x="10763250" y="7332091"/>
                    <a:pt x="10695940" y="7399401"/>
                    <a:pt x="10613009" y="7399401"/>
                  </a:cubicBezTo>
                  <a:lnTo>
                    <a:pt x="150241" y="7399401"/>
                  </a:lnTo>
                  <a:cubicBezTo>
                    <a:pt x="67310" y="7399401"/>
                    <a:pt x="0" y="7332091"/>
                    <a:pt x="0" y="724916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0144125" y="3391735"/>
            <a:ext cx="6929438" cy="458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36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Gold Outputs:</a:t>
            </a:r>
            <a:r>
              <a:rPr lang="en-US" sz="360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5759"/>
              </a:lnSpc>
            </a:pPr>
            <a:r>
              <a:rPr lang="en-US" sz="360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- gold.energy_forecast: Hourly predictions. </a:t>
            </a:r>
          </a:p>
          <a:p>
            <a:pPr algn="l">
              <a:lnSpc>
                <a:spcPts val="5759"/>
              </a:lnSpc>
            </a:pPr>
            <a:r>
              <a:rPr lang="en-US" sz="360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- gold.risk_zones: Risk classification. </a:t>
            </a:r>
          </a:p>
          <a:p>
            <a:pPr algn="l">
              <a:lnSpc>
                <a:spcPts val="5759"/>
              </a:lnSpc>
            </a:pPr>
            <a:r>
              <a:rPr lang="en-US" sz="360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- gold.optimization: Load shifting logic.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6875" y="3267910"/>
            <a:ext cx="71438" cy="5549518"/>
            <a:chOff x="0" y="0"/>
            <a:chExt cx="95250" cy="73993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250" cy="7399401"/>
            </a:xfrm>
            <a:custGeom>
              <a:avLst/>
              <a:gdLst/>
              <a:ahLst/>
              <a:cxnLst/>
              <a:rect r="r" b="b" t="t" l="l"/>
              <a:pathLst>
                <a:path h="7399401" w="95250">
                  <a:moveTo>
                    <a:pt x="0" y="0"/>
                  </a:moveTo>
                  <a:lnTo>
                    <a:pt x="95250" y="0"/>
                  </a:lnTo>
                  <a:lnTo>
                    <a:pt x="95250" y="7399401"/>
                  </a:lnTo>
                  <a:lnTo>
                    <a:pt x="0" y="7399401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1143000" y="6792688"/>
            <a:ext cx="342900" cy="342900"/>
            <a:chOff x="0" y="0"/>
            <a:chExt cx="457200" cy="457200"/>
          </a:xfrm>
        </p:grpSpPr>
        <p:sp>
          <p:nvSpPr>
            <p:cNvPr name="Freeform 34" id="34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9644062" y="4318043"/>
            <a:ext cx="342900" cy="342900"/>
            <a:chOff x="0" y="0"/>
            <a:chExt cx="457200" cy="4572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166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14375" y="1672564"/>
            <a:ext cx="17573850" cy="83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Forecasting &amp; AI Models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10938846" y="1842406"/>
            <a:ext cx="4768493" cy="1367559"/>
            <a:chOff x="0" y="0"/>
            <a:chExt cx="6357990" cy="18234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58001" cy="1823466"/>
            </a:xfrm>
            <a:custGeom>
              <a:avLst/>
              <a:gdLst/>
              <a:ahLst/>
              <a:cxnLst/>
              <a:rect r="r" b="b" t="t" l="l"/>
              <a:pathLst>
                <a:path h="1823466" w="6358001">
                  <a:moveTo>
                    <a:pt x="0" y="0"/>
                  </a:moveTo>
                  <a:lnTo>
                    <a:pt x="6358001" y="0"/>
                  </a:lnTo>
                  <a:lnTo>
                    <a:pt x="6358001" y="1823466"/>
                  </a:lnTo>
                  <a:lnTo>
                    <a:pt x="0" y="1823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52" t="0" r="-3852" b="2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857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6" id="16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144000" y="1458805"/>
            <a:ext cx="8072438" cy="74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Abdullah Mohamed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150" y="1591270"/>
            <a:ext cx="17573850" cy="83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Forecasting &amp; AI Models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7490712" y="2682764"/>
            <a:ext cx="10737648" cy="6328502"/>
            <a:chOff x="0" y="0"/>
            <a:chExt cx="14316864" cy="8438002"/>
          </a:xfrm>
        </p:grpSpPr>
        <p:sp>
          <p:nvSpPr>
            <p:cNvPr name="Freeform 23" id="23" descr="A screenshot of a computer  AI-generated content may be incorrect."/>
            <p:cNvSpPr/>
            <p:nvPr/>
          </p:nvSpPr>
          <p:spPr>
            <a:xfrm flipH="false" flipV="false" rot="0">
              <a:off x="0" y="0"/>
              <a:ext cx="14316838" cy="8438007"/>
            </a:xfrm>
            <a:custGeom>
              <a:avLst/>
              <a:gdLst/>
              <a:ahLst/>
              <a:cxnLst/>
              <a:rect r="r" b="b" t="t" l="l"/>
              <a:pathLst>
                <a:path h="8438007" w="14316838">
                  <a:moveTo>
                    <a:pt x="0" y="0"/>
                  </a:moveTo>
                  <a:lnTo>
                    <a:pt x="14316838" y="0"/>
                  </a:lnTo>
                  <a:lnTo>
                    <a:pt x="14316838" y="8438007"/>
                  </a:lnTo>
                  <a:lnTo>
                    <a:pt x="0" y="8438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66393" y="2682764"/>
            <a:ext cx="7040246" cy="6636676"/>
            <a:chOff x="0" y="0"/>
            <a:chExt cx="9386994" cy="88489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86951" cy="8848852"/>
            </a:xfrm>
            <a:custGeom>
              <a:avLst/>
              <a:gdLst/>
              <a:ahLst/>
              <a:cxnLst/>
              <a:rect r="r" b="b" t="t" l="l"/>
              <a:pathLst>
                <a:path h="8848852" w="9386951">
                  <a:moveTo>
                    <a:pt x="0" y="179578"/>
                  </a:moveTo>
                  <a:cubicBezTo>
                    <a:pt x="0" y="80391"/>
                    <a:pt x="80391" y="0"/>
                    <a:pt x="179578" y="0"/>
                  </a:cubicBezTo>
                  <a:lnTo>
                    <a:pt x="9207373" y="0"/>
                  </a:lnTo>
                  <a:cubicBezTo>
                    <a:pt x="9306560" y="0"/>
                    <a:pt x="9386951" y="80391"/>
                    <a:pt x="9386951" y="179578"/>
                  </a:cubicBezTo>
                  <a:lnTo>
                    <a:pt x="9386951" y="8669274"/>
                  </a:lnTo>
                  <a:cubicBezTo>
                    <a:pt x="9386951" y="8768461"/>
                    <a:pt x="9306560" y="8848852"/>
                    <a:pt x="9207373" y="8848852"/>
                  </a:cubicBezTo>
                  <a:lnTo>
                    <a:pt x="179578" y="8848852"/>
                  </a:lnTo>
                  <a:cubicBezTo>
                    <a:pt x="80391" y="8848852"/>
                    <a:pt x="0" y="8768461"/>
                    <a:pt x="0" y="8669274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366393" y="2682764"/>
            <a:ext cx="77677" cy="6636676"/>
            <a:chOff x="0" y="0"/>
            <a:chExt cx="103570" cy="88489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632" cy="8848852"/>
            </a:xfrm>
            <a:custGeom>
              <a:avLst/>
              <a:gdLst/>
              <a:ahLst/>
              <a:cxnLst/>
              <a:rect r="r" b="b" t="t" l="l"/>
              <a:pathLst>
                <a:path h="8848852" w="103632">
                  <a:moveTo>
                    <a:pt x="0" y="0"/>
                  </a:moveTo>
                  <a:lnTo>
                    <a:pt x="103632" y="0"/>
                  </a:lnTo>
                  <a:lnTo>
                    <a:pt x="103632" y="8848852"/>
                  </a:lnTo>
                  <a:lnTo>
                    <a:pt x="0" y="8848852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496672" y="2784093"/>
            <a:ext cx="7061277" cy="472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Creating the Serving Layer: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We utilized </a:t>
            </a: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Azure Synapse Serverless SQL Pools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to create a virtual layer over our data.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The script uses the CREATE VIEW command to define a schema for the ML output (energy_forecast).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Data Virtualization (OPENROWSET):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We used the OPENROWSET function to query </a:t>
            </a: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Parquet/Delta files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directly from </a:t>
            </a: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ADLS Gen2</a:t>
            </a: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without moving the data.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This converts raw file paths into a structured SQL table format that Power BI can easily understand.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E2E8F0"/>
                </a:solidFill>
                <a:latin typeface="Arial Bold"/>
                <a:ea typeface="Arial Bold"/>
                <a:cs typeface="Arial Bold"/>
                <a:sym typeface="Arial Bold"/>
              </a:rPr>
              <a:t>Seamless Integration: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This view acts as the connector. Power BI connects to this view via "DirectQuery" or "Import" mode to visualize the scored_labels (predictions) alongside actual_consumption.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-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4" id="14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3240267"/>
            <a:ext cx="5438464" cy="1342564"/>
            <a:chOff x="0" y="0"/>
            <a:chExt cx="10572600" cy="261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72623" cy="2609977"/>
            </a:xfrm>
            <a:custGeom>
              <a:avLst/>
              <a:gdLst/>
              <a:ahLst/>
              <a:cxnLst/>
              <a:rect r="r" b="b" t="t" l="l"/>
              <a:pathLst>
                <a:path h="2609977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2457577"/>
                  </a:lnTo>
                  <a:cubicBezTo>
                    <a:pt x="10572623" y="2541778"/>
                    <a:pt x="10504424" y="2609977"/>
                    <a:pt x="10420223" y="2609977"/>
                  </a:cubicBezTo>
                  <a:lnTo>
                    <a:pt x="152400" y="2609977"/>
                  </a:lnTo>
                  <a:cubicBezTo>
                    <a:pt x="68199" y="2609977"/>
                    <a:pt x="0" y="2541778"/>
                    <a:pt x="0" y="2457577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57250" y="3240267"/>
            <a:ext cx="71550" cy="1957500"/>
            <a:chOff x="0" y="0"/>
            <a:chExt cx="95400" cy="261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377" cy="2609977"/>
            </a:xfrm>
            <a:custGeom>
              <a:avLst/>
              <a:gdLst/>
              <a:ahLst/>
              <a:cxnLst/>
              <a:rect r="r" b="b" t="t" l="l"/>
              <a:pathLst>
                <a:path h="2609977" w="95377">
                  <a:moveTo>
                    <a:pt x="0" y="0"/>
                  </a:moveTo>
                  <a:lnTo>
                    <a:pt x="95377" y="0"/>
                  </a:lnTo>
                  <a:lnTo>
                    <a:pt x="95377" y="2609977"/>
                  </a:lnTo>
                  <a:lnTo>
                    <a:pt x="0" y="2609977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57250" y="5483405"/>
            <a:ext cx="5438464" cy="1332688"/>
            <a:chOff x="0" y="0"/>
            <a:chExt cx="10572600" cy="259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72623" cy="2590800"/>
            </a:xfrm>
            <a:custGeom>
              <a:avLst/>
              <a:gdLst/>
              <a:ahLst/>
              <a:cxnLst/>
              <a:rect r="r" b="b" t="t" l="l"/>
              <a:pathLst>
                <a:path h="25908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2438400"/>
                  </a:lnTo>
                  <a:cubicBezTo>
                    <a:pt x="10572623" y="2522601"/>
                    <a:pt x="10504424" y="2590800"/>
                    <a:pt x="10420223" y="2590800"/>
                  </a:cubicBezTo>
                  <a:lnTo>
                    <a:pt x="152400" y="2590800"/>
                  </a:lnTo>
                  <a:cubicBezTo>
                    <a:pt x="68199" y="2590800"/>
                    <a:pt x="0" y="2522601"/>
                    <a:pt x="0" y="24384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57250" y="5483404"/>
            <a:ext cx="71550" cy="1943100"/>
            <a:chOff x="0" y="0"/>
            <a:chExt cx="95400" cy="259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377" cy="2590800"/>
            </a:xfrm>
            <a:custGeom>
              <a:avLst/>
              <a:gdLst/>
              <a:ahLst/>
              <a:cxnLst/>
              <a:rect r="r" b="b" t="t" l="l"/>
              <a:pathLst>
                <a:path h="2590800" w="95377">
                  <a:moveTo>
                    <a:pt x="0" y="0"/>
                  </a:moveTo>
                  <a:lnTo>
                    <a:pt x="95377" y="0"/>
                  </a:lnTo>
                  <a:lnTo>
                    <a:pt x="95377" y="2590800"/>
                  </a:lnTo>
                  <a:lnTo>
                    <a:pt x="0" y="25908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57250" y="7712255"/>
            <a:ext cx="5438464" cy="1019114"/>
            <a:chOff x="0" y="0"/>
            <a:chExt cx="10572600" cy="1981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72623" cy="1981200"/>
            </a:xfrm>
            <a:custGeom>
              <a:avLst/>
              <a:gdLst/>
              <a:ahLst/>
              <a:cxnLst/>
              <a:rect r="r" b="b" t="t" l="l"/>
              <a:pathLst>
                <a:path h="1981200" w="10572623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420223" y="0"/>
                  </a:lnTo>
                  <a:cubicBezTo>
                    <a:pt x="10504424" y="0"/>
                    <a:pt x="10572623" y="68199"/>
                    <a:pt x="10572623" y="152400"/>
                  </a:cubicBezTo>
                  <a:lnTo>
                    <a:pt x="10572623" y="1828800"/>
                  </a:lnTo>
                  <a:cubicBezTo>
                    <a:pt x="10572623" y="1913001"/>
                    <a:pt x="10504424" y="1981200"/>
                    <a:pt x="10420223" y="1981200"/>
                  </a:cubicBezTo>
                  <a:lnTo>
                    <a:pt x="152400" y="1981200"/>
                  </a:lnTo>
                  <a:cubicBezTo>
                    <a:pt x="68199" y="1981200"/>
                    <a:pt x="0" y="1913001"/>
                    <a:pt x="0" y="1828800"/>
                  </a:cubicBezTo>
                  <a:close/>
                </a:path>
              </a:pathLst>
            </a:custGeom>
            <a:solidFill>
              <a:srgbClr val="27354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57250" y="7712255"/>
            <a:ext cx="71550" cy="1485900"/>
            <a:chOff x="0" y="0"/>
            <a:chExt cx="95400" cy="198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377" cy="1981200"/>
            </a:xfrm>
            <a:custGeom>
              <a:avLst/>
              <a:gdLst/>
              <a:ahLst/>
              <a:cxnLst/>
              <a:rect r="r" b="b" t="t" l="l"/>
              <a:pathLst>
                <a:path h="1981200" w="95377">
                  <a:moveTo>
                    <a:pt x="0" y="0"/>
                  </a:moveTo>
                  <a:lnTo>
                    <a:pt x="95377" y="0"/>
                  </a:lnTo>
                  <a:lnTo>
                    <a:pt x="95377" y="1981200"/>
                  </a:lnTo>
                  <a:lnTo>
                    <a:pt x="0" y="1981200"/>
                  </a:lnTo>
                  <a:close/>
                </a:path>
              </a:pathLst>
            </a:custGeom>
            <a:solidFill>
              <a:srgbClr val="336EA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042988" y="3483155"/>
            <a:ext cx="428625" cy="342900"/>
            <a:chOff x="0" y="0"/>
            <a:chExt cx="571500" cy="4572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166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214438" y="6283504"/>
            <a:ext cx="385762" cy="342900"/>
            <a:chOff x="0" y="0"/>
            <a:chExt cx="514350" cy="4572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166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214438" y="8283755"/>
            <a:ext cx="342900" cy="342900"/>
            <a:chOff x="0" y="0"/>
            <a:chExt cx="457200" cy="4572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166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6381439" y="2821811"/>
            <a:ext cx="11576678" cy="6154269"/>
          </a:xfrm>
          <a:custGeom>
            <a:avLst/>
            <a:gdLst/>
            <a:ahLst/>
            <a:cxnLst/>
            <a:rect r="r" b="b" t="t" l="l"/>
            <a:pathLst>
              <a:path h="6154269" w="11576678">
                <a:moveTo>
                  <a:pt x="0" y="0"/>
                </a:moveTo>
                <a:lnTo>
                  <a:pt x="11576679" y="0"/>
                </a:lnTo>
                <a:lnTo>
                  <a:pt x="11576679" y="6154268"/>
                </a:lnTo>
                <a:lnTo>
                  <a:pt x="0" y="61542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57250" y="1605912"/>
            <a:ext cx="8326039" cy="130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Power BI Integration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7250" y="2205985"/>
            <a:ext cx="7929450" cy="61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b="true" sz="2700">
                <a:solidFill>
                  <a:srgbClr val="D7B119"/>
                </a:solidFill>
                <a:latin typeface="Arimo Bold"/>
                <a:ea typeface="Arimo Bold"/>
                <a:cs typeface="Arimo Bold"/>
                <a:sym typeface="Arimo Bold"/>
              </a:rPr>
              <a:t>Presenter: Merna Sameh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57337" y="3347504"/>
            <a:ext cx="4738377" cy="1139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6"/>
              </a:lnSpc>
            </a:pPr>
            <a:r>
              <a:rPr lang="en-US" b="true" sz="157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Synapse Integration:</a:t>
            </a:r>
            <a:r>
              <a:rPr lang="en-US" sz="157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Leveraged Serverless SQL Views (view_energy_forecast) to expose Gold data securely to Power BI.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14500" y="5692954"/>
            <a:ext cx="458121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b="true" sz="151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Key Visuals:</a:t>
            </a:r>
            <a:r>
              <a:rPr lang="en-US" sz="1518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l">
              <a:lnSpc>
                <a:spcPts val="2430"/>
              </a:lnSpc>
            </a:pPr>
            <a:r>
              <a:rPr lang="en-US" sz="1518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- Regional Energy Risk Analysis map. </a:t>
            </a:r>
          </a:p>
          <a:p>
            <a:pPr algn="l">
              <a:lnSpc>
                <a:spcPts val="2430"/>
              </a:lnSpc>
            </a:pPr>
            <a:r>
              <a:rPr lang="en-US" sz="1518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- Forecast vs. Actual Consumption trends.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14500" y="7883704"/>
            <a:ext cx="4208163" cy="67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b="true" sz="139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Impact:</a:t>
            </a:r>
            <a:r>
              <a:rPr lang="en-US" sz="1395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 Provides decision-makers with a real-time view of grid health and optimization opportunities.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857250" y="6383386"/>
            <a:ext cx="7929562" cy="1428750"/>
            <a:chOff x="0" y="0"/>
            <a:chExt cx="10572750" cy="1905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057275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00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2000250"/>
            <a:ext cx="17402175" cy="112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47954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Live Application Status &amp; Testing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6598" y="3657749"/>
            <a:ext cx="805933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36EA8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Production Ready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7250" y="4408437"/>
            <a:ext cx="7929562" cy="168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The system is fully deployed on Azure. Pipelines run daily, ingesting new data and updating the Power BI dashboard automatically.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01188" y="3152923"/>
            <a:ext cx="832604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336EA8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Testing Phases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811530" y="3689300"/>
            <a:ext cx="400050" cy="400050"/>
            <a:chOff x="0" y="0"/>
            <a:chExt cx="533400" cy="533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57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43000" y="6659611"/>
            <a:ext cx="138588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Current State: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86938" y="4111614"/>
            <a:ext cx="142875" cy="50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•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25062" y="3938736"/>
            <a:ext cx="7405688" cy="1186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2475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Unit Testing: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Validated schema enforcement and data types within Databricks notebooks.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86938" y="5331409"/>
            <a:ext cx="142875" cy="50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•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25062" y="5158531"/>
            <a:ext cx="7405688" cy="118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2475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Integration Testing: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Successful end-to-end execution of ADF pipelines (Ingest -&gt; Process -&gt; Train -&gt; Report).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86938" y="6551205"/>
            <a:ext cx="142875" cy="50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•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9812" y="6916787"/>
            <a:ext cx="7405688" cy="168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2475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Model Evaluation: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Forecasts evaluated using RMSE and MAPE metrics; successfully predicted historical peak events.</a:t>
            </a:r>
          </a:p>
        </p:txBody>
      </p:sp>
      <p:grpSp>
        <p:nvGrpSpPr>
          <p:cNvPr name="Group 33" id="33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34" id="34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857250" y="3986212"/>
            <a:ext cx="5333925" cy="3131640"/>
            <a:chOff x="0" y="0"/>
            <a:chExt cx="7111900" cy="417552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7111873" cy="4175506"/>
            </a:xfrm>
            <a:custGeom>
              <a:avLst/>
              <a:gdLst/>
              <a:ahLst/>
              <a:cxnLst/>
              <a:rect r="r" b="b" t="t" l="l"/>
              <a:pathLst>
                <a:path h="4175506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90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6476925" y="3986212"/>
            <a:ext cx="5333925" cy="3131640"/>
            <a:chOff x="0" y="0"/>
            <a:chExt cx="7111900" cy="417552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111873" cy="4175506"/>
            </a:xfrm>
            <a:custGeom>
              <a:avLst/>
              <a:gdLst/>
              <a:ahLst/>
              <a:cxnLst/>
              <a:rect r="r" b="b" t="t" l="l"/>
              <a:pathLst>
                <a:path h="4175506" w="7111873">
                  <a:moveTo>
                    <a:pt x="0" y="0"/>
                  </a:moveTo>
                  <a:lnTo>
                    <a:pt x="7111873" y="0"/>
                  </a:lnTo>
                  <a:lnTo>
                    <a:pt x="7111873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90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2096600" y="3986212"/>
            <a:ext cx="5334148" cy="3131640"/>
            <a:chOff x="0" y="0"/>
            <a:chExt cx="7112198" cy="417552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7112254" cy="4175506"/>
            </a:xfrm>
            <a:custGeom>
              <a:avLst/>
              <a:gdLst/>
              <a:ahLst/>
              <a:cxnLst/>
              <a:rect r="r" b="b" t="t" l="l"/>
              <a:pathLst>
                <a:path h="4175506" w="7112254">
                  <a:moveTo>
                    <a:pt x="0" y="0"/>
                  </a:moveTo>
                  <a:lnTo>
                    <a:pt x="7112254" y="0"/>
                  </a:lnTo>
                  <a:lnTo>
                    <a:pt x="7112254" y="4175506"/>
                  </a:lnTo>
                  <a:lnTo>
                    <a:pt x="0" y="417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94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57250" y="2000250"/>
            <a:ext cx="17402175" cy="112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47954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Project Deliverables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7250" y="7508377"/>
            <a:ext cx="16573500" cy="68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b="true" sz="2475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Timeline: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All milestones completed. Ready for final handover.</a:t>
            </a:r>
          </a:p>
        </p:txBody>
      </p: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3309788" y="4486275"/>
            <a:ext cx="428625" cy="571500"/>
            <a:chOff x="0" y="0"/>
            <a:chExt cx="571500" cy="762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71500" cy="762000"/>
            </a:xfrm>
            <a:custGeom>
              <a:avLst/>
              <a:gdLst/>
              <a:ahLst/>
              <a:cxnLst/>
              <a:rect r="r" b="b" t="t" l="l"/>
              <a:pathLst>
                <a:path h="7620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333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38941" y="5262563"/>
            <a:ext cx="4970542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336EA8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Source Code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7288" y="5810250"/>
            <a:ext cx="4733850" cy="86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Databricks Notebooks (Python), ADF Pipeline JSONs, ML Training Scripts.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8929464" y="4486275"/>
            <a:ext cx="428625" cy="571500"/>
            <a:chOff x="0" y="0"/>
            <a:chExt cx="571500" cy="7620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571500" cy="762000"/>
            </a:xfrm>
            <a:custGeom>
              <a:avLst/>
              <a:gdLst/>
              <a:ahLst/>
              <a:cxnLst/>
              <a:rect r="r" b="b" t="t" l="l"/>
              <a:pathLst>
                <a:path h="7620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3333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658616" y="5262563"/>
            <a:ext cx="4970542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336EA8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Documentation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76962" y="5810250"/>
            <a:ext cx="4733850" cy="86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Architecture Diagrams, Data Dictionary, API Specs, Final Report.</a:t>
            </a:r>
          </a:p>
        </p:txBody>
      </p: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14442206" y="4486275"/>
            <a:ext cx="642938" cy="571500"/>
            <a:chOff x="0" y="0"/>
            <a:chExt cx="857250" cy="7620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857250" cy="762000"/>
            </a:xfrm>
            <a:custGeom>
              <a:avLst/>
              <a:gdLst/>
              <a:ahLst/>
              <a:cxnLst/>
              <a:rect r="r" b="b" t="t" l="l"/>
              <a:pathLst>
                <a:path h="76200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2222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278286" y="5262563"/>
            <a:ext cx="4970776" cy="538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2250">
                <a:solidFill>
                  <a:srgbClr val="336EA8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Final Product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96638" y="5810250"/>
            <a:ext cx="4734073" cy="86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Interactive Power BI Dashboard connected to live Synapse views.</a:t>
            </a:r>
          </a:p>
        </p:txBody>
      </p: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39" id="3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671512" y="3611358"/>
            <a:ext cx="3807618" cy="4586287"/>
            <a:chOff x="0" y="0"/>
            <a:chExt cx="5076824" cy="61150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076825" cy="6115050"/>
            </a:xfrm>
            <a:custGeom>
              <a:avLst/>
              <a:gdLst/>
              <a:ahLst/>
              <a:cxnLst/>
              <a:rect r="r" b="b" t="t" l="l"/>
              <a:pathLst>
                <a:path h="6115050" w="5076825">
                  <a:moveTo>
                    <a:pt x="0" y="0"/>
                  </a:moveTo>
                  <a:lnTo>
                    <a:pt x="5076825" y="0"/>
                  </a:lnTo>
                  <a:lnTo>
                    <a:pt x="5076825" y="6115050"/>
                  </a:lnTo>
                  <a:lnTo>
                    <a:pt x="0" y="611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23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907756" y="3611358"/>
            <a:ext cx="3807618" cy="4586287"/>
            <a:chOff x="0" y="0"/>
            <a:chExt cx="5076824" cy="611505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5076825" cy="6115050"/>
            </a:xfrm>
            <a:custGeom>
              <a:avLst/>
              <a:gdLst/>
              <a:ahLst/>
              <a:cxnLst/>
              <a:rect r="r" b="b" t="t" l="l"/>
              <a:pathLst>
                <a:path h="6115050" w="5076825">
                  <a:moveTo>
                    <a:pt x="0" y="0"/>
                  </a:moveTo>
                  <a:lnTo>
                    <a:pt x="5076825" y="0"/>
                  </a:lnTo>
                  <a:lnTo>
                    <a:pt x="5076825" y="6115050"/>
                  </a:lnTo>
                  <a:lnTo>
                    <a:pt x="0" y="611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123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9144000" y="3611358"/>
            <a:ext cx="3807618" cy="4586287"/>
            <a:chOff x="0" y="0"/>
            <a:chExt cx="5076824" cy="611505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076825" cy="6115050"/>
            </a:xfrm>
            <a:custGeom>
              <a:avLst/>
              <a:gdLst/>
              <a:ahLst/>
              <a:cxnLst/>
              <a:rect r="r" b="b" t="t" l="l"/>
              <a:pathLst>
                <a:path h="6115050" w="5076825">
                  <a:moveTo>
                    <a:pt x="0" y="0"/>
                  </a:moveTo>
                  <a:lnTo>
                    <a:pt x="5076825" y="0"/>
                  </a:lnTo>
                  <a:lnTo>
                    <a:pt x="5076825" y="6115050"/>
                  </a:lnTo>
                  <a:lnTo>
                    <a:pt x="0" y="611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123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3380243" y="3611358"/>
            <a:ext cx="3807618" cy="4586287"/>
            <a:chOff x="0" y="0"/>
            <a:chExt cx="5076824" cy="611505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5076825" cy="6115050"/>
            </a:xfrm>
            <a:custGeom>
              <a:avLst/>
              <a:gdLst/>
              <a:ahLst/>
              <a:cxnLst/>
              <a:rect r="r" b="b" t="t" l="l"/>
              <a:pathLst>
                <a:path h="6115050" w="5076825">
                  <a:moveTo>
                    <a:pt x="0" y="0"/>
                  </a:moveTo>
                  <a:lnTo>
                    <a:pt x="5076825" y="0"/>
                  </a:lnTo>
                  <a:lnTo>
                    <a:pt x="5076825" y="6115050"/>
                  </a:lnTo>
                  <a:lnTo>
                    <a:pt x="0" y="6115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123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14425" y="5121070"/>
            <a:ext cx="306788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Nagat Osama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14425" y="5768770"/>
            <a:ext cx="2921793" cy="14288"/>
            <a:chOff x="0" y="0"/>
            <a:chExt cx="3895724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95725" cy="19050"/>
            </a:xfrm>
            <a:custGeom>
              <a:avLst/>
              <a:gdLst/>
              <a:ahLst/>
              <a:cxnLst/>
              <a:rect r="r" b="b" t="t" l="l"/>
              <a:pathLst>
                <a:path h="19050" w="3895725">
                  <a:moveTo>
                    <a:pt x="0" y="0"/>
                  </a:moveTo>
                  <a:lnTo>
                    <a:pt x="3895725" y="0"/>
                  </a:lnTo>
                  <a:lnTo>
                    <a:pt x="38957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14425" y="5973558"/>
            <a:ext cx="292179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Data Engineer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Ingestion Pipelines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50668" y="5121070"/>
            <a:ext cx="306788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Ebrahim Ateff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350668" y="5768770"/>
            <a:ext cx="2921793" cy="14288"/>
            <a:chOff x="0" y="0"/>
            <a:chExt cx="3895724" cy="19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95725" cy="19050"/>
            </a:xfrm>
            <a:custGeom>
              <a:avLst/>
              <a:gdLst/>
              <a:ahLst/>
              <a:cxnLst/>
              <a:rect r="r" b="b" t="t" l="l"/>
              <a:pathLst>
                <a:path h="19050" w="3895725">
                  <a:moveTo>
                    <a:pt x="0" y="0"/>
                  </a:moveTo>
                  <a:lnTo>
                    <a:pt x="3895725" y="0"/>
                  </a:lnTo>
                  <a:lnTo>
                    <a:pt x="38957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5350668" y="5973558"/>
            <a:ext cx="292179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Data Engineer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Processing &amp; Transformation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586912" y="5121070"/>
            <a:ext cx="3067882" cy="1004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Abdullah Mohamed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586912" y="6254546"/>
            <a:ext cx="2921793" cy="14288"/>
            <a:chOff x="0" y="0"/>
            <a:chExt cx="3895724" cy="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95725" cy="19050"/>
            </a:xfrm>
            <a:custGeom>
              <a:avLst/>
              <a:gdLst/>
              <a:ahLst/>
              <a:cxnLst/>
              <a:rect r="r" b="b" t="t" l="l"/>
              <a:pathLst>
                <a:path h="19050" w="3895725">
                  <a:moveTo>
                    <a:pt x="0" y="0"/>
                  </a:moveTo>
                  <a:lnTo>
                    <a:pt x="3895725" y="0"/>
                  </a:lnTo>
                  <a:lnTo>
                    <a:pt x="38957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9586912" y="6459333"/>
            <a:ext cx="292179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ML Engineer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AI Models &amp; Forecasting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23156" y="5121070"/>
            <a:ext cx="306788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3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Merna Sameh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823156" y="5768770"/>
            <a:ext cx="2921793" cy="14288"/>
            <a:chOff x="0" y="0"/>
            <a:chExt cx="3895724" cy="19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95725" cy="19050"/>
            </a:xfrm>
            <a:custGeom>
              <a:avLst/>
              <a:gdLst/>
              <a:ahLst/>
              <a:cxnLst/>
              <a:rect r="r" b="b" t="t" l="l"/>
              <a:pathLst>
                <a:path h="19050" w="3895725">
                  <a:moveTo>
                    <a:pt x="0" y="0"/>
                  </a:moveTo>
                  <a:lnTo>
                    <a:pt x="3895725" y="0"/>
                  </a:lnTo>
                  <a:lnTo>
                    <a:pt x="38957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3823156" y="5973558"/>
            <a:ext cx="292179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E2E8F0"/>
                </a:solidFill>
                <a:latin typeface="Arimo"/>
                <a:ea typeface="Arimo"/>
                <a:cs typeface="Arimo"/>
                <a:sym typeface="Arimo"/>
              </a:rPr>
              <a:t>Team Lead</a:t>
            </a:r>
          </a:p>
          <a:p>
            <a:pPr algn="l">
              <a:lnSpc>
                <a:spcPts val="3599"/>
              </a:lnSpc>
            </a:pPr>
            <a:r>
              <a:rPr lang="en-US" sz="2250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BI &amp; Visualization</a:t>
            </a:r>
          </a:p>
        </p:txBody>
      </p:sp>
      <p:grpSp>
        <p:nvGrpSpPr>
          <p:cNvPr name="Group 44" id="44"/>
          <p:cNvGrpSpPr>
            <a:grpSpLocks noChangeAspect="true"/>
          </p:cNvGrpSpPr>
          <p:nvPr/>
        </p:nvGrpSpPr>
        <p:grpSpPr>
          <a:xfrm rot="0">
            <a:off x="1114425" y="4097133"/>
            <a:ext cx="714375" cy="571500"/>
            <a:chOff x="0" y="0"/>
            <a:chExt cx="952500" cy="7620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500"/>
              </a:stretch>
            </a:blipFill>
          </p:spPr>
        </p:sp>
      </p:grpSp>
      <p:grpSp>
        <p:nvGrpSpPr>
          <p:cNvPr name="Group 46" id="46"/>
          <p:cNvGrpSpPr>
            <a:grpSpLocks noChangeAspect="true"/>
          </p:cNvGrpSpPr>
          <p:nvPr/>
        </p:nvGrpSpPr>
        <p:grpSpPr>
          <a:xfrm rot="0">
            <a:off x="5350668" y="4097133"/>
            <a:ext cx="714375" cy="571500"/>
            <a:chOff x="0" y="0"/>
            <a:chExt cx="952500" cy="7620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490"/>
              </a:stretch>
            </a:blipFill>
          </p:spPr>
        </p:sp>
      </p:grpSp>
      <p:grpSp>
        <p:nvGrpSpPr>
          <p:cNvPr name="Group 48" id="48"/>
          <p:cNvGrpSpPr>
            <a:grpSpLocks noChangeAspect="true"/>
          </p:cNvGrpSpPr>
          <p:nvPr/>
        </p:nvGrpSpPr>
        <p:grpSpPr>
          <a:xfrm rot="0">
            <a:off x="9586912" y="4097133"/>
            <a:ext cx="714375" cy="571500"/>
            <a:chOff x="0" y="0"/>
            <a:chExt cx="952500" cy="7620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2500"/>
              </a:stretch>
            </a:blipFill>
          </p:spPr>
        </p:sp>
      </p:grpSp>
      <p:grpSp>
        <p:nvGrpSpPr>
          <p:cNvPr name="Group 50" id="50"/>
          <p:cNvGrpSpPr>
            <a:grpSpLocks noChangeAspect="true"/>
          </p:cNvGrpSpPr>
          <p:nvPr/>
        </p:nvGrpSpPr>
        <p:grpSpPr>
          <a:xfrm rot="0">
            <a:off x="13823156" y="4089990"/>
            <a:ext cx="714375" cy="571500"/>
            <a:chOff x="0" y="0"/>
            <a:chExt cx="952500" cy="762000"/>
          </a:xfrm>
        </p:grpSpPr>
        <p:sp>
          <p:nvSpPr>
            <p:cNvPr name="Freeform 51" id="51" descr="image.png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-30208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714375" y="1913186"/>
            <a:ext cx="17573625" cy="130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0FAB7D"/>
                </a:solidFill>
                <a:latin typeface="Cairo Bold"/>
                <a:ea typeface="Cairo Bold"/>
                <a:cs typeface="Cairo Bold"/>
                <a:sym typeface="Cairo Bold"/>
              </a:rPr>
              <a:t>Project Team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36" y="3115376"/>
            <a:ext cx="8655418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0"/>
              </a:lnSpc>
            </a:pPr>
            <a:r>
              <a:rPr lang="en-US" b="true" sz="11250">
                <a:solidFill>
                  <a:srgbClr val="0FAB7D"/>
                </a:solidFill>
                <a:latin typeface="Arimo Bold"/>
                <a:ea typeface="Arimo Bold"/>
                <a:cs typeface="Arimo Bold"/>
                <a:sym typeface="Arimo Bold"/>
              </a:rPr>
              <a:t>Questions?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5246" y="5182301"/>
            <a:ext cx="7072312" cy="1162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3600">
                <a:solidFill>
                  <a:srgbClr val="808080"/>
                </a:solidFill>
                <a:latin typeface="Arimo"/>
                <a:ea typeface="Arimo"/>
                <a:cs typeface="Arimo"/>
                <a:sym typeface="Arimo"/>
              </a:rPr>
              <a:t>Thank you for your attention.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5246" y="6599441"/>
            <a:ext cx="7072312" cy="4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FAB7D"/>
                </a:solidFill>
                <a:latin typeface="Arimo"/>
                <a:ea typeface="Arimo"/>
                <a:cs typeface="Arimo"/>
                <a:sym typeface="Arimo"/>
              </a:rPr>
              <a:t>Team 4 | Smart City Energy Project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11/30/25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</a:t>
              </a:r>
            </a:p>
          </p:txBody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857250" y="6918051"/>
            <a:ext cx="16573500" cy="2019894"/>
            <a:chOff x="0" y="0"/>
            <a:chExt cx="22098000" cy="2693192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22098000" cy="2693162"/>
            </a:xfrm>
            <a:custGeom>
              <a:avLst/>
              <a:gdLst/>
              <a:ahLst/>
              <a:cxnLst/>
              <a:rect r="r" b="b" t="t" l="l"/>
              <a:pathLst>
                <a:path h="2693162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693162"/>
                  </a:lnTo>
                  <a:lnTo>
                    <a:pt x="0" y="2693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43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42912" y="2768053"/>
            <a:ext cx="17402175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047954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Thank You!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7250" y="4977854"/>
            <a:ext cx="16573500" cy="86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6"/>
              </a:lnSpc>
            </a:pPr>
            <a:r>
              <a:rPr lang="en-US" sz="3150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Questions?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7250" y="8039917"/>
            <a:ext cx="16573500" cy="79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2"/>
              </a:lnSpc>
            </a:pPr>
            <a:r>
              <a:rPr lang="en-US" sz="2475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GitHub:</a:t>
            </a:r>
            <a:r>
              <a:rPr lang="en-US" sz="2475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https://github.com/nagatosamasaad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4270010" y="9556996"/>
            <a:ext cx="1934911" cy="502742"/>
            <a:chOff x="0" y="0"/>
            <a:chExt cx="2579882" cy="670322"/>
          </a:xfrm>
        </p:grpSpPr>
        <p:sp>
          <p:nvSpPr>
            <p:cNvPr name="Freeform 28" id="28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579878" cy="670306"/>
            </a:xfrm>
            <a:custGeom>
              <a:avLst/>
              <a:gdLst/>
              <a:ahLst/>
              <a:cxnLst/>
              <a:rect r="r" b="b" t="t" l="l"/>
              <a:pathLst>
                <a:path h="670306" w="2579878">
                  <a:moveTo>
                    <a:pt x="0" y="0"/>
                  </a:moveTo>
                  <a:lnTo>
                    <a:pt x="2579878" y="0"/>
                  </a:lnTo>
                  <a:lnTo>
                    <a:pt x="2579878" y="670306"/>
                  </a:lnTo>
                  <a:lnTo>
                    <a:pt x="0" y="670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DAG7DqeJ3oU</dc:identifier>
  <dcterms:modified xsi:type="dcterms:W3CDTF">2011-08-01T06:04:30Z</dcterms:modified>
  <cp:revision>1</cp:revision>
  <dc:title>presentation template.pptx</dc:title>
</cp:coreProperties>
</file>